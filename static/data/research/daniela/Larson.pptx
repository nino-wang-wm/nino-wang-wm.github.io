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8" r:id="rId3"/>
    <p:sldId id="269" r:id="rId4"/>
    <p:sldId id="270" r:id="rId5"/>
    <p:sldId id="257" r:id="rId6"/>
    <p:sldId id="259" r:id="rId7"/>
    <p:sldId id="260" r:id="rId8"/>
    <p:sldId id="261" r:id="rId9"/>
    <p:sldId id="262" r:id="rId10"/>
    <p:sldId id="263" r:id="rId11"/>
    <p:sldId id="264" r:id="rId12"/>
    <p:sldId id="266" r:id="rId13"/>
    <p:sldId id="265"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88" d="100"/>
          <a:sy n="88" d="100"/>
        </p:scale>
        <p:origin x="2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C55910E-62D5-4907-9D09-79DFA6B4EE99}"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47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311515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C55910E-62D5-4907-9D09-79DFA6B4EE99}"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56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208248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742366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155290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760903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E25D32D-CB97-4C25-AD93-FFB1EB954095}" type="datetimeFigureOut">
              <a:rPr lang="zh-CN" altLang="en-US" smtClean="0"/>
              <a:t>2024/12/1</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378400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716456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8697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C55910E-62D5-4907-9D09-79DFA6B4EE99}" type="slidenum">
              <a:rPr lang="zh-CN" altLang="en-US" smtClean="0"/>
              <a:t>‹#›</a:t>
            </a:fld>
            <a:endParaRPr lang="zh-CN" altLang="en-US"/>
          </a:p>
        </p:txBody>
      </p:sp>
    </p:spTree>
    <p:extLst>
      <p:ext uri="{BB962C8B-B14F-4D97-AF65-F5344CB8AC3E}">
        <p14:creationId xmlns:p14="http://schemas.microsoft.com/office/powerpoint/2010/main" val="2872402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E25D32D-CB97-4C25-AD93-FFB1EB954095}" type="datetimeFigureOut">
              <a:rPr lang="zh-CN" altLang="en-US" smtClean="0"/>
              <a:t>2024/12/1</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C55910E-62D5-4907-9D09-79DFA6B4EE99}"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17246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1261872" y="75895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Project</a:t>
            </a:r>
            <a:r>
              <a:rPr lang="zh-CN" altLang="en-US" sz="4800" dirty="0">
                <a:latin typeface="Times New Roman" panose="02020603050405020304" pitchFamily="18" charset="0"/>
                <a:cs typeface="Times New Roman" panose="02020603050405020304" pitchFamily="18" charset="0"/>
              </a:rPr>
              <a:t>：</a:t>
            </a:r>
            <a:r>
              <a:rPr lang="en-US" altLang="zh-CN" sz="4800" dirty="0">
                <a:latin typeface="Times New Roman" panose="02020603050405020304" pitchFamily="18" charset="0"/>
                <a:cs typeface="Times New Roman" panose="02020603050405020304" pitchFamily="18" charset="0"/>
              </a:rPr>
              <a:t>Hypercube Queuing Model</a:t>
            </a:r>
            <a:endParaRPr lang="zh-CN" altLang="en-US" sz="48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2D22157D-8800-FE92-7F21-13C8F954E7FE}"/>
              </a:ext>
            </a:extLst>
          </p:cNvPr>
          <p:cNvSpPr>
            <a:spLocks noGrp="1"/>
          </p:cNvSpPr>
          <p:nvPr>
            <p:ph type="subTitle" idx="1"/>
          </p:nvPr>
        </p:nvSpPr>
        <p:spPr>
          <a:xfrm>
            <a:off x="1403386" y="5285014"/>
            <a:ext cx="3010771" cy="680357"/>
          </a:xfrm>
        </p:spPr>
        <p:txBody>
          <a:bodyPr>
            <a:normAutofit/>
          </a:bodyPr>
          <a:lstStyle/>
          <a:p>
            <a:r>
              <a:rPr lang="en-US" altLang="zh-CN" sz="2400" spc="-50" dirty="0">
                <a:solidFill>
                  <a:schemeClr val="tx1"/>
                </a:solidFill>
                <a:latin typeface="Times New Roman" panose="02020603050405020304" pitchFamily="18" charset="0"/>
                <a:ea typeface="+mj-ea"/>
                <a:cs typeface="Times New Roman" panose="02020603050405020304" pitchFamily="18" charset="0"/>
              </a:rPr>
              <a:t>Jiufan Wang</a:t>
            </a:r>
            <a:endParaRPr lang="zh-CN" altLang="en-US" sz="2400" spc="-50" dirty="0">
              <a:solidFill>
                <a:schemeClr val="tx1"/>
              </a:solidFill>
              <a:latin typeface="Times New Roman" panose="02020603050405020304" pitchFamily="18" charset="0"/>
              <a:ea typeface="+mj-ea"/>
              <a:cs typeface="Times New Roman" panose="02020603050405020304" pitchFamily="18" charset="0"/>
            </a:endParaRPr>
          </a:p>
        </p:txBody>
      </p:sp>
      <p:pic>
        <p:nvPicPr>
          <p:cNvPr id="5" name="图片 4">
            <a:extLst>
              <a:ext uri="{FF2B5EF4-FFF2-40B4-BE49-F238E27FC236}">
                <a16:creationId xmlns:a16="http://schemas.microsoft.com/office/drawing/2014/main" id="{4BEE2DED-27BA-93FE-21D5-A6E70A85900F}"/>
              </a:ext>
            </a:extLst>
          </p:cNvPr>
          <p:cNvPicPr>
            <a:picLocks noChangeAspect="1"/>
          </p:cNvPicPr>
          <p:nvPr/>
        </p:nvPicPr>
        <p:blipFill>
          <a:blip r:embed="rId2"/>
          <a:stretch>
            <a:fillRect/>
          </a:stretch>
        </p:blipFill>
        <p:spPr>
          <a:xfrm>
            <a:off x="6564744" y="3041376"/>
            <a:ext cx="4549571" cy="3328781"/>
          </a:xfrm>
          <a:prstGeom prst="rect">
            <a:avLst/>
          </a:prstGeom>
        </p:spPr>
      </p:pic>
    </p:spTree>
    <p:extLst>
      <p:ext uri="{BB962C8B-B14F-4D97-AF65-F5344CB8AC3E}">
        <p14:creationId xmlns:p14="http://schemas.microsoft.com/office/powerpoint/2010/main" val="2091861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589A-7C26-F4AA-58D5-D25046F8A6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726F72-A555-719F-6593-027C321658E3}"/>
              </a:ext>
            </a:extLst>
          </p:cNvPr>
          <p:cNvSpPr>
            <a:spLocks noGrp="1"/>
          </p:cNvSpPr>
          <p:nvPr>
            <p:ph type="ctrTitle"/>
          </p:nvPr>
        </p:nvSpPr>
        <p:spPr>
          <a:xfrm>
            <a:off x="427333" y="-57979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Introduction</a:t>
            </a:r>
            <a:r>
              <a:rPr lang="zh-CN" altLang="en-US" sz="4800" dirty="0">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D747BFF8-4551-F054-5ED4-FB27B362F23E}"/>
              </a:ext>
            </a:extLst>
          </p:cNvPr>
          <p:cNvSpPr txBox="1"/>
          <p:nvPr/>
        </p:nvSpPr>
        <p:spPr>
          <a:xfrm>
            <a:off x="917122" y="1844184"/>
            <a:ext cx="10357756" cy="341632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The model addresses critical emergency service challenges by optimizing facility locations, designing efficient service districts, and determining optimal response unit allocations. These optimizations are essential for improving urban emergency service delivery while managing operational costs.</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The framework has broad applications across emergency services, including police patrol routing, ambulance station positioning, and fire department coverage planning. Each service type benefits from the model's ability to handle both fixed locations (like fire stations) and mobile units (like patrol cars).</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Initially developed by Richard C. Larson at MIT, this groundbreaking approach has become a fundamental tool in emergency service planning and operations research. The model's computational efficiency and practical applicability have made it particularly valuable for real-world implementation.</a:t>
            </a:r>
            <a:endParaRPr lang="zh-CN" altLang="en-US" dirty="0"/>
          </a:p>
        </p:txBody>
      </p:sp>
    </p:spTree>
    <p:extLst>
      <p:ext uri="{BB962C8B-B14F-4D97-AF65-F5344CB8AC3E}">
        <p14:creationId xmlns:p14="http://schemas.microsoft.com/office/powerpoint/2010/main" val="2633751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E9438-729B-D0F4-C82E-0F66DC6C57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F83C60-4E0D-D7EC-2B5D-4E35C2234B49}"/>
              </a:ext>
            </a:extLst>
          </p:cNvPr>
          <p:cNvSpPr>
            <a:spLocks noGrp="1"/>
          </p:cNvSpPr>
          <p:nvPr>
            <p:ph type="ctrTitle"/>
          </p:nvPr>
        </p:nvSpPr>
        <p:spPr>
          <a:xfrm>
            <a:off x="427333" y="-57979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Queueing theory</a:t>
            </a:r>
            <a:r>
              <a:rPr lang="zh-CN" altLang="en-US" sz="4800" dirty="0">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6F222CD1-4624-9C24-157B-CA6025844D93}"/>
              </a:ext>
            </a:extLst>
          </p:cNvPr>
          <p:cNvSpPr txBox="1"/>
          <p:nvPr/>
        </p:nvSpPr>
        <p:spPr>
          <a:xfrm>
            <a:off x="917122" y="1844184"/>
            <a:ext cx="10357756" cy="3416320"/>
          </a:xfrm>
          <a:prstGeom prst="rect">
            <a:avLst/>
          </a:prstGeom>
          <a:noFill/>
        </p:spPr>
        <p:txBody>
          <a:bodyPr wrap="square" rtlCol="0">
            <a:spAutoFit/>
          </a:bodyPr>
          <a:lstStyle/>
          <a:p>
            <a:pPr algn="l">
              <a:buFont typeface="Arial" panose="020B0604020202020204" pitchFamily="34" charset="0"/>
              <a:buChar char="•"/>
            </a:pPr>
            <a:r>
              <a:rPr lang="en-US" altLang="zh-CN" b="1" i="0" dirty="0">
                <a:solidFill>
                  <a:srgbClr val="0D0D0D"/>
                </a:solidFill>
                <a:effectLst/>
                <a:latin typeface="Segoe UI Variable Text" pitchFamily="2" charset="0"/>
              </a:rPr>
              <a:t>Core Concept</a:t>
            </a:r>
            <a:r>
              <a:rPr lang="en-US" altLang="zh-CN" b="0" i="0" dirty="0">
                <a:solidFill>
                  <a:srgbClr val="0D0D0D"/>
                </a:solidFill>
                <a:effectLst/>
                <a:latin typeface="Segoe UI Variable Text" pitchFamily="2" charset="0"/>
              </a:rPr>
              <a:t>: Queueing theory studies the behavior of waiting lines, focusing on the arrival of tasks (or customers), service processes, and resource allocation to optimize performance and reduce delays.</a:t>
            </a:r>
          </a:p>
          <a:p>
            <a:pPr algn="l">
              <a:buFont typeface="Arial" panose="020B0604020202020204" pitchFamily="34" charset="0"/>
              <a:buChar char="•"/>
            </a:pPr>
            <a:endParaRPr lang="en-US" altLang="zh-CN" b="0" i="0" dirty="0">
              <a:solidFill>
                <a:srgbClr val="0D0D0D"/>
              </a:solidFill>
              <a:effectLst/>
              <a:latin typeface="Segoe UI Variable Text" pitchFamily="2" charset="0"/>
            </a:endParaRPr>
          </a:p>
          <a:p>
            <a:pPr algn="l">
              <a:buFont typeface="Arial" panose="020B0604020202020204" pitchFamily="34" charset="0"/>
              <a:buChar char="•"/>
            </a:pPr>
            <a:r>
              <a:rPr lang="en-US" altLang="zh-CN" b="1" i="0" dirty="0">
                <a:solidFill>
                  <a:srgbClr val="0D0D0D"/>
                </a:solidFill>
                <a:effectLst/>
                <a:latin typeface="Segoe UI Variable Text" pitchFamily="2" charset="0"/>
              </a:rPr>
              <a:t>Applications</a:t>
            </a:r>
            <a:r>
              <a:rPr lang="en-US" altLang="zh-CN" b="0" i="0" dirty="0">
                <a:solidFill>
                  <a:srgbClr val="0D0D0D"/>
                </a:solidFill>
                <a:effectLst/>
                <a:latin typeface="Segoe UI Variable Text" pitchFamily="2" charset="0"/>
              </a:rPr>
              <a:t>: It is widely used in various fields, including telecommunications, transportation, healthcare, and emergency services, to design systems that manage congestion and improve efficiency.</a:t>
            </a:r>
          </a:p>
          <a:p>
            <a:pPr algn="l">
              <a:buFont typeface="Arial" panose="020B0604020202020204" pitchFamily="34" charset="0"/>
              <a:buChar char="•"/>
            </a:pPr>
            <a:endParaRPr lang="en-US" altLang="zh-CN" dirty="0">
              <a:solidFill>
                <a:srgbClr val="0D0D0D"/>
              </a:solidFill>
              <a:latin typeface="Segoe UI Variable Text" pitchFamily="2" charset="0"/>
            </a:endParaRPr>
          </a:p>
          <a:p>
            <a:pPr algn="l"/>
            <a:endParaRPr lang="en-US" altLang="zh-CN" b="0" i="0" dirty="0">
              <a:solidFill>
                <a:srgbClr val="0D0D0D"/>
              </a:solidFill>
              <a:effectLst/>
              <a:latin typeface="Segoe UI Variable Text" pitchFamily="2" charset="0"/>
            </a:endParaRPr>
          </a:p>
          <a:p>
            <a:pPr algn="l">
              <a:buFont typeface="Arial" panose="020B0604020202020204" pitchFamily="34" charset="0"/>
              <a:buChar char="•"/>
            </a:pPr>
            <a:r>
              <a:rPr lang="en-US" altLang="zh-CN" b="1" i="0" dirty="0">
                <a:solidFill>
                  <a:srgbClr val="0D0D0D"/>
                </a:solidFill>
                <a:effectLst/>
                <a:latin typeface="Segoe UI Variable Text" pitchFamily="2" charset="0"/>
              </a:rPr>
              <a:t>Mathematical Framework</a:t>
            </a:r>
            <a:r>
              <a:rPr lang="en-US" altLang="zh-CN" b="0" i="0" dirty="0">
                <a:solidFill>
                  <a:srgbClr val="0D0D0D"/>
                </a:solidFill>
                <a:effectLst/>
                <a:latin typeface="Segoe UI Variable Text" pitchFamily="2" charset="0"/>
              </a:rPr>
              <a:t>: Queueing models typically involve stochastic processes, analyzing metrics such as average wait time, queue length, and system utilization to evaluate and optimize performance under uncertainty.</a:t>
            </a:r>
          </a:p>
        </p:txBody>
      </p:sp>
    </p:spTree>
    <p:extLst>
      <p:ext uri="{BB962C8B-B14F-4D97-AF65-F5344CB8AC3E}">
        <p14:creationId xmlns:p14="http://schemas.microsoft.com/office/powerpoint/2010/main" val="252059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F4F7-256E-1CCE-20D8-05432549E6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8895A30-431B-20FF-9FCE-09C80960AB6B}"/>
              </a:ext>
            </a:extLst>
          </p:cNvPr>
          <p:cNvSpPr>
            <a:spLocks noGrp="1"/>
          </p:cNvSpPr>
          <p:nvPr>
            <p:ph type="ctrTitle"/>
          </p:nvPr>
        </p:nvSpPr>
        <p:spPr>
          <a:xfrm>
            <a:off x="427333" y="-57979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Basic M/M/1 queue</a:t>
            </a:r>
            <a:r>
              <a:rPr lang="zh-CN" altLang="en-US" sz="4800" dirty="0">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1B2AF4DE-BA54-29AB-FE7F-84F89E45CC1E}"/>
                  </a:ext>
                </a:extLst>
              </p:cNvPr>
              <p:cNvSpPr txBox="1"/>
              <p:nvPr/>
            </p:nvSpPr>
            <p:spPr>
              <a:xfrm>
                <a:off x="634093" y="1966377"/>
                <a:ext cx="11220449" cy="3088153"/>
              </a:xfrm>
              <a:prstGeom prst="rect">
                <a:avLst/>
              </a:prstGeom>
              <a:noFill/>
            </p:spPr>
            <p:txBody>
              <a:bodyPr wrap="square" rtlCol="0">
                <a:spAutoFit/>
              </a:bodyPr>
              <a:lstStyle/>
              <a:p>
                <a:pPr marL="342900" lvl="0" indent="-342900" algn="just">
                  <a:spcBef>
                    <a:spcPts val="600"/>
                  </a:spcBef>
                  <a:spcAft>
                    <a:spcPts val="600"/>
                  </a:spcAft>
                  <a:buFont typeface="Arial" panose="020B0604020202020204" pitchFamily="34" charset="0"/>
                  <a:buChar char="•"/>
                  <a:tabLst>
                    <a:tab pos="457200" algn="l"/>
                  </a:tabLst>
                </a:pPr>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Single-Server System: The </a:t>
                </a:r>
                <a14:m>
                  <m:oMath xmlns:m="http://schemas.openxmlformats.org/officeDocument/2006/math">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𝑀</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𝑀</m:t>
                    </m:r>
                    <m:r>
                      <a:rPr lang="en-US" altLang="zh-CN">
                        <a:effectLst/>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queue represents a system with a single server handling arrivals that follow a Poisson process </a:t>
                </a:r>
                <a14:m>
                  <m:oMath xmlns:m="http://schemas.openxmlformats.org/officeDocument/2006/math">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𝜆</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and exponentially distributed service times </a:t>
                </a:r>
                <a14:m>
                  <m:oMath xmlns:m="http://schemas.openxmlformats.org/officeDocument/2006/math">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𝜇</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It assumes a </a:t>
                </a:r>
                <a:r>
                  <a:rPr lang="en-US" altLang="zh-CN" dirty="0" err="1">
                    <a:effectLst/>
                    <a:latin typeface="Times New Roman" panose="02020603050405020304" pitchFamily="18" charset="0"/>
                    <a:ea typeface="等线" panose="02010600030101010101" pitchFamily="2" charset="-122"/>
                    <a:cs typeface="Times New Roman" panose="02020603050405020304" pitchFamily="18" charset="0"/>
                  </a:rPr>
                  <a:t>firstcome</a:t>
                </a:r>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first-served discipline with no capacity limit in the queue.</a:t>
                </a:r>
              </a:p>
              <a:p>
                <a:pPr lvl="0" algn="just">
                  <a:spcBef>
                    <a:spcPts val="600"/>
                  </a:spcBef>
                  <a:spcAft>
                    <a:spcPts val="600"/>
                  </a:spcAft>
                  <a:tabLst>
                    <a:tab pos="457200" algn="l"/>
                  </a:tabLst>
                </a:pPr>
                <a:endParaRPr lang="zh-CN" altLang="zh-CN" dirty="0">
                  <a:effectLst/>
                  <a:latin typeface="Times New Roman" panose="02020603050405020304" pitchFamily="18" charset="0"/>
                  <a:ea typeface="等线" panose="02010600030101010101" pitchFamily="2" charset="-122"/>
                  <a:cs typeface="Times New Roman" panose="02020603050405020304" pitchFamily="18" charset="0"/>
                </a:endParaRPr>
              </a:p>
              <a:p>
                <a:pPr marL="342900" lvl="0" indent="-342900" algn="just">
                  <a:spcBef>
                    <a:spcPts val="600"/>
                  </a:spcBef>
                  <a:spcAft>
                    <a:spcPts val="600"/>
                  </a:spcAft>
                  <a:buFont typeface="Arial" panose="020B0604020202020204" pitchFamily="34" charset="0"/>
                  <a:buChar char="•"/>
                  <a:tabLst>
                    <a:tab pos="457200" algn="l"/>
                  </a:tabLst>
                </a:pPr>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Performance Metrics: Key metrics include the average number of customers in the system ( </a:t>
                </a:r>
                <a14:m>
                  <m:oMath xmlns:m="http://schemas.openxmlformats.org/officeDocument/2006/math">
                    <m:r>
                      <a:rPr lang="en-US" altLang="zh-CN" i="1">
                        <a:effectLst/>
                        <a:latin typeface="Cambria Math" panose="02040503050406030204" pitchFamily="18" charset="0"/>
                        <a:ea typeface="等线" panose="02010600030101010101" pitchFamily="2" charset="-122"/>
                        <a:cs typeface="Times New Roman" panose="02020603050405020304" pitchFamily="18" charset="0"/>
                      </a:rPr>
                      <m:t>𝐿</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𝜆</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𝜇</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𝜆</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 and the average waiting time in the queue </a:t>
                </a:r>
                <a14:m>
                  <m:oMath xmlns:m="http://schemas.openxmlformats.org/officeDocument/2006/math">
                    <m:d>
                      <m:dPr>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𝑊</m:t>
                            </m:r>
                          </m:e>
                          <m:sub>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𝑞</m:t>
                            </m:r>
                          </m:sub>
                        </m:sSub>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𝜆</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𝜇</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𝜇</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𝜆</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e>
                    </m:d>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 It highlights how increasing service rates can dramatically reduce delays.</a:t>
                </a:r>
                <a:endParaRPr lang="zh-CN" altLang="zh-CN" dirty="0">
                  <a:effectLst/>
                  <a:latin typeface="Times New Roman" panose="02020603050405020304" pitchFamily="18" charset="0"/>
                  <a:ea typeface="等线" panose="02010600030101010101" pitchFamily="2" charset="-122"/>
                  <a:cs typeface="Times New Roman" panose="02020603050405020304" pitchFamily="18" charset="0"/>
                </a:endParaRPr>
              </a:p>
              <a:p>
                <a:pPr marL="342900" lvl="0" indent="-342900" algn="just">
                  <a:spcBef>
                    <a:spcPts val="600"/>
                  </a:spcBef>
                  <a:spcAft>
                    <a:spcPts val="600"/>
                  </a:spcAft>
                  <a:buFont typeface="Arial" panose="020B0604020202020204" pitchFamily="34" charset="0"/>
                  <a:buChar char="•"/>
                  <a:tabLst>
                    <a:tab pos="457200" algn="l"/>
                  </a:tabLst>
                </a:pPr>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Simplistic Assumptions: The simplicity of the </a:t>
                </a:r>
                <a14:m>
                  <m:oMath xmlns:m="http://schemas.openxmlformats.org/officeDocument/2006/math">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𝑀</m:t>
                    </m:r>
                    <m:r>
                      <a:rPr lang="en-US" altLang="zh-CN">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effectLst/>
                        <a:latin typeface="Cambria Math" panose="02040503050406030204" pitchFamily="18" charset="0"/>
                        <a:ea typeface="等线" panose="02010600030101010101" pitchFamily="2" charset="-122"/>
                        <a:cs typeface="Times New Roman" panose="02020603050405020304" pitchFamily="18" charset="0"/>
                      </a:rPr>
                      <m:t>𝑀</m:t>
                    </m:r>
                    <m:r>
                      <a:rPr lang="en-US" altLang="zh-CN">
                        <a:effectLst/>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dirty="0">
                    <a:effectLst/>
                    <a:latin typeface="Times New Roman" panose="02020603050405020304" pitchFamily="18" charset="0"/>
                    <a:ea typeface="等线" panose="02010600030101010101" pitchFamily="2" charset="-122"/>
                    <a:cs typeface="Times New Roman" panose="02020603050405020304" pitchFamily="18" charset="0"/>
                  </a:rPr>
                  <a:t> model makes it easy to analyze but limits its applicability to real-world systems where multiple servers, finite capacities, or non-Poisson arrivals are common.</a:t>
                </a:r>
                <a:endParaRPr lang="zh-CN" altLang="zh-CN" dirty="0">
                  <a:effectLst/>
                  <a:latin typeface="Times New Roman" panose="02020603050405020304" pitchFamily="18" charset="0"/>
                  <a:ea typeface="等线" panose="02010600030101010101" pitchFamily="2" charset="-122"/>
                  <a:cs typeface="Times New Roman" panose="02020603050405020304" pitchFamily="18" charset="0"/>
                </a:endParaRPr>
              </a:p>
            </p:txBody>
          </p:sp>
        </mc:Choice>
        <mc:Fallback>
          <p:sp>
            <p:nvSpPr>
              <p:cNvPr id="6" name="文本框 5">
                <a:extLst>
                  <a:ext uri="{FF2B5EF4-FFF2-40B4-BE49-F238E27FC236}">
                    <a16:creationId xmlns:a16="http://schemas.microsoft.com/office/drawing/2014/main" id="{1B2AF4DE-BA54-29AB-FE7F-84F89E45CC1E}"/>
                  </a:ext>
                </a:extLst>
              </p:cNvPr>
              <p:cNvSpPr txBox="1">
                <a:spLocks noRot="1" noChangeAspect="1" noMove="1" noResize="1" noEditPoints="1" noAdjustHandles="1" noChangeArrowheads="1" noChangeShapeType="1" noTextEdit="1"/>
              </p:cNvSpPr>
              <p:nvPr/>
            </p:nvSpPr>
            <p:spPr>
              <a:xfrm>
                <a:off x="634093" y="1966377"/>
                <a:ext cx="11220449" cy="3088153"/>
              </a:xfrm>
              <a:prstGeom prst="rect">
                <a:avLst/>
              </a:prstGeom>
              <a:blipFill>
                <a:blip r:embed="rId2"/>
                <a:stretch>
                  <a:fillRect l="-326" t="-1186" r="-435" b="-23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981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427333" y="-57979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M/M/N queue</a:t>
            </a:r>
            <a:r>
              <a:rPr lang="zh-CN" altLang="en-US" sz="4800" dirty="0">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68CF11C-D4E9-2EC0-29BA-B30751432F78}"/>
                  </a:ext>
                </a:extLst>
              </p:cNvPr>
              <p:cNvSpPr txBox="1"/>
              <p:nvPr/>
            </p:nvSpPr>
            <p:spPr>
              <a:xfrm>
                <a:off x="620486" y="1710563"/>
                <a:ext cx="10597243" cy="3693319"/>
              </a:xfrm>
              <a:prstGeom prst="rect">
                <a:avLst/>
              </a:prstGeom>
              <a:noFill/>
            </p:spPr>
            <p:txBody>
              <a:bodyPr wrap="square" rtlCol="0">
                <a:spAutoFit/>
              </a:bodyPr>
              <a:lstStyle/>
              <a:p>
                <a:pPr marL="285750" lvl="0" indent="-285750">
                  <a:buFont typeface="Arial" panose="020B0604020202020204" pitchFamily="34" charset="0"/>
                  <a:buChar char="•"/>
                </a:pPr>
                <a:r>
                  <a:rPr lang="en-US" altLang="zh-CN" dirty="0">
                    <a:latin typeface="Times New Roman" panose="02020603050405020304" pitchFamily="18" charset="0"/>
                    <a:ea typeface="等线" panose="02010600030101010101" pitchFamily="2" charset="-122"/>
                    <a:cs typeface="Times New Roman" panose="02020603050405020304" pitchFamily="18" charset="0"/>
                  </a:rPr>
                  <a:t>Multi-Server System: The M/M/N queue extends the </a:t>
                </a:r>
                <a14:m>
                  <m:oMath xmlns:m="http://schemas.openxmlformats.org/officeDocument/2006/math">
                    <m:r>
                      <m:rPr>
                        <m:sty m:val="p"/>
                      </m:rPr>
                      <a:rPr lang="en-US" altLang="zh-CN">
                        <a:latin typeface="Times New Roman" panose="02020603050405020304" pitchFamily="18" charset="0"/>
                        <a:ea typeface="等线" panose="02010600030101010101" pitchFamily="2" charset="-122"/>
                        <a:cs typeface="Times New Roman" panose="02020603050405020304" pitchFamily="18" charset="0"/>
                      </a:rPr>
                      <m:t>M</m:t>
                    </m:r>
                    <m:r>
                      <a:rPr lang="en-US" altLang="zh-CN">
                        <a:latin typeface="Times New Roman" panose="02020603050405020304" pitchFamily="18" charset="0"/>
                        <a:ea typeface="等线" panose="02010600030101010101" pitchFamily="2" charset="-122"/>
                        <a:cs typeface="Times New Roman" panose="02020603050405020304" pitchFamily="18" charset="0"/>
                      </a:rPr>
                      <m:t>/</m:t>
                    </m:r>
                    <m:r>
                      <m:rPr>
                        <m:sty m:val="p"/>
                      </m:rPr>
                      <a:rPr lang="en-US" altLang="zh-CN">
                        <a:latin typeface="Times New Roman" panose="02020603050405020304" pitchFamily="18" charset="0"/>
                        <a:ea typeface="等线" panose="02010600030101010101" pitchFamily="2" charset="-122"/>
                        <a:cs typeface="Times New Roman" panose="02020603050405020304" pitchFamily="18" charset="0"/>
                      </a:rPr>
                      <m:t>M</m:t>
                    </m:r>
                    <m:r>
                      <a:rPr lang="en-US" altLang="zh-CN">
                        <a:latin typeface="Times New Roman" panose="02020603050405020304" pitchFamily="18" charset="0"/>
                        <a:ea typeface="等线" panose="02010600030101010101" pitchFamily="2" charset="-122"/>
                        <a:cs typeface="Times New Roman" panose="02020603050405020304" pitchFamily="18" charset="0"/>
                      </a:rPr>
                      <m:t>/1</m:t>
                    </m:r>
                  </m:oMath>
                </a14:m>
                <a:r>
                  <a:rPr lang="en-US" altLang="zh-CN" dirty="0">
                    <a:latin typeface="Times New Roman" panose="02020603050405020304" pitchFamily="18" charset="0"/>
                    <a:ea typeface="等线" panose="02010600030101010101" pitchFamily="2" charset="-122"/>
                    <a:cs typeface="Times New Roman" panose="02020603050405020304" pitchFamily="18" charset="0"/>
                  </a:rPr>
                  <a:t> model to </a:t>
                </a:r>
                <a14:m>
                  <m:oMath xmlns:m="http://schemas.openxmlformats.org/officeDocument/2006/math">
                    <m:r>
                      <a:rPr lang="en-US" altLang="zh-CN">
                        <a:latin typeface="Times New Roman" panose="02020603050405020304" pitchFamily="18" charset="0"/>
                        <a:ea typeface="等线" panose="02010600030101010101" pitchFamily="2" charset="-122"/>
                        <a:cs typeface="Times New Roman" panose="02020603050405020304" pitchFamily="18" charset="0"/>
                      </a:rPr>
                      <m:t>𝑁</m:t>
                    </m:r>
                  </m:oMath>
                </a14:m>
                <a:r>
                  <a:rPr lang="en-US" altLang="zh-CN" dirty="0">
                    <a:latin typeface="Times New Roman" panose="02020603050405020304" pitchFamily="18" charset="0"/>
                    <a:ea typeface="等线" panose="02010600030101010101" pitchFamily="2" charset="-122"/>
                    <a:cs typeface="Times New Roman" panose="02020603050405020304" pitchFamily="18" charset="0"/>
                  </a:rPr>
                  <a:t> parallel servers, sharing a single queue for incoming customers. Arrivals and service times still follow Poisson and exponential distributions, respectively.</a:t>
                </a:r>
              </a:p>
              <a:p>
                <a:pPr marL="285750" lvl="0" indent="-285750">
                  <a:buFont typeface="Arial" panose="020B0604020202020204" pitchFamily="34" charset="0"/>
                  <a:buChar char="•"/>
                </a:pPr>
                <a:endParaRPr lang="en-US" altLang="zh-CN" dirty="0">
                  <a:latin typeface="Times New Roman" panose="02020603050405020304" pitchFamily="18" charset="0"/>
                  <a:ea typeface="等线" panose="02010600030101010101" pitchFamily="2" charset="-122"/>
                  <a:cs typeface="Times New Roman" panose="02020603050405020304" pitchFamily="18" charset="0"/>
                </a:endParaRPr>
              </a:p>
              <a:p>
                <a:pPr marL="285750" lvl="0" indent="-285750">
                  <a:buFont typeface="Arial" panose="020B0604020202020204" pitchFamily="34" charset="0"/>
                  <a:buChar char="•"/>
                </a:pPr>
                <a:endParaRPr lang="zh-CN" altLang="zh-CN" dirty="0">
                  <a:latin typeface="Times New Roman" panose="02020603050405020304" pitchFamily="18" charset="0"/>
                  <a:ea typeface="等线" panose="02010600030101010101" pitchFamily="2" charset="-122"/>
                  <a:cs typeface="Times New Roman" panose="02020603050405020304" pitchFamily="18" charset="0"/>
                </a:endParaRPr>
              </a:p>
              <a:p>
                <a:pPr marL="285750" lvl="0" indent="-285750">
                  <a:buFont typeface="Arial" panose="020B0604020202020204" pitchFamily="34" charset="0"/>
                  <a:buChar char="•"/>
                </a:pPr>
                <a:r>
                  <a:rPr lang="en-US" altLang="zh-CN" dirty="0">
                    <a:latin typeface="Times New Roman" panose="02020603050405020304" pitchFamily="18" charset="0"/>
                    <a:ea typeface="等线" panose="02010600030101010101" pitchFamily="2" charset="-122"/>
                    <a:cs typeface="Times New Roman" panose="02020603050405020304" pitchFamily="18" charset="0"/>
                  </a:rPr>
                  <a:t>Performance Trade-offs: With more servers, the system can handle higher arrival rates, reducing queue lengths and waiting times. However, diminishing returns in efficiency occur as additional servers may remain idle under low demand.</a:t>
                </a:r>
              </a:p>
              <a:p>
                <a:pPr lvl="0"/>
                <a:endParaRPr lang="en-US" altLang="zh-CN" dirty="0">
                  <a:latin typeface="Times New Roman" panose="02020603050405020304" pitchFamily="18" charset="0"/>
                  <a:ea typeface="等线" panose="02010600030101010101" pitchFamily="2" charset="-122"/>
                  <a:cs typeface="Times New Roman" panose="02020603050405020304" pitchFamily="18" charset="0"/>
                </a:endParaRPr>
              </a:p>
              <a:p>
                <a:pPr marL="285750" lvl="0" indent="-285750">
                  <a:buFont typeface="Arial" panose="020B0604020202020204" pitchFamily="34" charset="0"/>
                  <a:buChar char="•"/>
                </a:pPr>
                <a:endParaRPr lang="zh-CN" altLang="zh-CN" dirty="0">
                  <a:latin typeface="Times New Roman" panose="02020603050405020304" pitchFamily="18" charset="0"/>
                  <a:ea typeface="等线" panose="02010600030101010101" pitchFamily="2" charset="-122"/>
                  <a:cs typeface="Times New Roman" panose="02020603050405020304" pitchFamily="18" charset="0"/>
                </a:endParaRPr>
              </a:p>
              <a:p>
                <a:pPr marL="285750" lvl="0" indent="-285750">
                  <a:buFont typeface="Arial" panose="020B0604020202020204" pitchFamily="34" charset="0"/>
                  <a:buChar char="•"/>
                </a:pPr>
                <a:r>
                  <a:rPr lang="en-US" altLang="zh-CN" dirty="0">
                    <a:latin typeface="Times New Roman" panose="02020603050405020304" pitchFamily="18" charset="0"/>
                    <a:ea typeface="等线" panose="02010600030101010101" pitchFamily="2" charset="-122"/>
                    <a:cs typeface="Times New Roman" panose="02020603050405020304" pitchFamily="18" charset="0"/>
                  </a:rPr>
                  <a:t>Practical Applicability: The </a:t>
                </a:r>
                <a14:m>
                  <m:oMath xmlns:m="http://schemas.openxmlformats.org/officeDocument/2006/math">
                    <m:r>
                      <m:rPr>
                        <m:sty m:val="p"/>
                      </m:rPr>
                      <a:rPr lang="en-US" altLang="zh-CN">
                        <a:latin typeface="Times New Roman" panose="02020603050405020304" pitchFamily="18" charset="0"/>
                        <a:ea typeface="等线" panose="02010600030101010101" pitchFamily="2" charset="-122"/>
                        <a:cs typeface="Times New Roman" panose="02020603050405020304" pitchFamily="18" charset="0"/>
                      </a:rPr>
                      <m:t>M</m:t>
                    </m:r>
                    <m:r>
                      <a:rPr lang="en-US" altLang="zh-CN">
                        <a:latin typeface="Times New Roman" panose="02020603050405020304" pitchFamily="18" charset="0"/>
                        <a:ea typeface="等线" panose="02010600030101010101" pitchFamily="2" charset="-122"/>
                        <a:cs typeface="Times New Roman" panose="02020603050405020304" pitchFamily="18" charset="0"/>
                      </a:rPr>
                      <m:t>/</m:t>
                    </m:r>
                    <m:r>
                      <m:rPr>
                        <m:sty m:val="p"/>
                      </m:rPr>
                      <a:rPr lang="en-US" altLang="zh-CN">
                        <a:latin typeface="Times New Roman" panose="02020603050405020304" pitchFamily="18" charset="0"/>
                        <a:ea typeface="等线" panose="02010600030101010101" pitchFamily="2" charset="-122"/>
                        <a:cs typeface="Times New Roman" panose="02020603050405020304" pitchFamily="18" charset="0"/>
                      </a:rPr>
                      <m:t>M</m:t>
                    </m:r>
                    <m:r>
                      <a:rPr lang="en-US" altLang="zh-CN">
                        <a:latin typeface="Times New Roman" panose="02020603050405020304" pitchFamily="18" charset="0"/>
                        <a:ea typeface="等线" panose="02010600030101010101" pitchFamily="2" charset="-122"/>
                        <a:cs typeface="Times New Roman" panose="02020603050405020304" pitchFamily="18" charset="0"/>
                      </a:rPr>
                      <m:t>/</m:t>
                    </m:r>
                    <m:r>
                      <m:rPr>
                        <m:sty m:val="p"/>
                      </m:rPr>
                      <a:rPr lang="en-US" altLang="zh-CN">
                        <a:latin typeface="Times New Roman" panose="02020603050405020304" pitchFamily="18" charset="0"/>
                        <a:ea typeface="等线" panose="02010600030101010101" pitchFamily="2" charset="-122"/>
                        <a:cs typeface="Times New Roman" panose="02020603050405020304" pitchFamily="18" charset="0"/>
                      </a:rPr>
                      <m:t>N</m:t>
                    </m:r>
                  </m:oMath>
                </a14:m>
                <a:r>
                  <a:rPr lang="en-US" altLang="zh-CN" dirty="0">
                    <a:latin typeface="Times New Roman" panose="02020603050405020304" pitchFamily="18" charset="0"/>
                    <a:ea typeface="等线" panose="02010600030101010101" pitchFamily="2" charset="-122"/>
                    <a:cs typeface="Times New Roman" panose="02020603050405020304" pitchFamily="18" charset="0"/>
                  </a:rPr>
                  <a:t> model is widely used in environments like call centers, healthcare, and transportation hubs, where multiple resources are available for parallel processing but require careful optimization of server count versus operational </a:t>
                </a:r>
                <a:r>
                  <a:rPr lang="en-US" altLang="zh-CN" dirty="0">
                    <a:latin typeface="Times New Roman" panose="02020603050405020304" pitchFamily="18" charset="0"/>
                    <a:cs typeface="Times New Roman" panose="02020603050405020304" pitchFamily="18" charset="0"/>
                  </a:rPr>
                  <a:t>cost.</a:t>
                </a:r>
                <a:endParaRPr lang="zh-CN" altLang="zh-CN" dirty="0">
                  <a:latin typeface="Times New Roman" panose="02020603050405020304" pitchFamily="18" charset="0"/>
                  <a:cs typeface="Times New Roman" panose="02020603050405020304" pitchFamily="18" charset="0"/>
                </a:endParaRPr>
              </a:p>
            </p:txBody>
          </p:sp>
        </mc:Choice>
        <mc:Fallback>
          <p:sp>
            <p:nvSpPr>
              <p:cNvPr id="6" name="文本框 5">
                <a:extLst>
                  <a:ext uri="{FF2B5EF4-FFF2-40B4-BE49-F238E27FC236}">
                    <a16:creationId xmlns:a16="http://schemas.microsoft.com/office/drawing/2014/main" id="{F68CF11C-D4E9-2EC0-29BA-B30751432F78}"/>
                  </a:ext>
                </a:extLst>
              </p:cNvPr>
              <p:cNvSpPr txBox="1">
                <a:spLocks noRot="1" noChangeAspect="1" noMove="1" noResize="1" noEditPoints="1" noAdjustHandles="1" noChangeArrowheads="1" noChangeShapeType="1" noTextEdit="1"/>
              </p:cNvSpPr>
              <p:nvPr/>
            </p:nvSpPr>
            <p:spPr>
              <a:xfrm>
                <a:off x="620486" y="1710563"/>
                <a:ext cx="10597243" cy="3693319"/>
              </a:xfrm>
              <a:prstGeom prst="rect">
                <a:avLst/>
              </a:prstGeom>
              <a:blipFill>
                <a:blip r:embed="rId2"/>
                <a:stretch>
                  <a:fillRect l="-403" t="-992" r="-921" b="-1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2132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200514" y="-215319"/>
            <a:ext cx="6227500" cy="1401862"/>
          </a:xfrm>
        </p:spPr>
        <p:txBody>
          <a:bodyPr>
            <a:noAutofit/>
          </a:bodyPr>
          <a:lstStyle/>
          <a:p>
            <a:r>
              <a:rPr lang="en-US" altLang="zh-CN" sz="4800" dirty="0">
                <a:latin typeface="Times New Roman" panose="02020603050405020304" pitchFamily="18" charset="0"/>
                <a:cs typeface="Times New Roman" panose="02020603050405020304" pitchFamily="18" charset="0"/>
              </a:rPr>
              <a:t>Key element</a:t>
            </a:r>
            <a:r>
              <a:rPr lang="zh-CN" altLang="en-US" sz="4800" dirty="0">
                <a:latin typeface="Times New Roman" panose="02020603050405020304" pitchFamily="18" charset="0"/>
                <a:cs typeface="Times New Roman" panose="02020603050405020304" pitchFamily="18" charset="0"/>
              </a:rPr>
              <a:t>：</a:t>
            </a:r>
          </a:p>
        </p:txBody>
      </p:sp>
      <p:pic>
        <p:nvPicPr>
          <p:cNvPr id="7" name="图片 6">
            <a:extLst>
              <a:ext uri="{FF2B5EF4-FFF2-40B4-BE49-F238E27FC236}">
                <a16:creationId xmlns:a16="http://schemas.microsoft.com/office/drawing/2014/main" id="{22C30473-247F-8A87-A296-2F33DF2796E8}"/>
              </a:ext>
            </a:extLst>
          </p:cNvPr>
          <p:cNvPicPr>
            <a:picLocks noChangeAspect="1"/>
          </p:cNvPicPr>
          <p:nvPr/>
        </p:nvPicPr>
        <p:blipFill>
          <a:blip r:embed="rId2"/>
          <a:stretch>
            <a:fillRect/>
          </a:stretch>
        </p:blipFill>
        <p:spPr>
          <a:xfrm>
            <a:off x="2037815" y="1518546"/>
            <a:ext cx="8113114" cy="3738523"/>
          </a:xfrm>
          <a:prstGeom prst="rect">
            <a:avLst/>
          </a:prstGeom>
        </p:spPr>
      </p:pic>
    </p:spTree>
    <p:extLst>
      <p:ext uri="{BB962C8B-B14F-4D97-AF65-F5344CB8AC3E}">
        <p14:creationId xmlns:p14="http://schemas.microsoft.com/office/powerpoint/2010/main" val="400581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363800" y="-204433"/>
            <a:ext cx="6227500" cy="1401862"/>
          </a:xfrm>
        </p:spPr>
        <p:txBody>
          <a:bodyPr>
            <a:noAutofit/>
          </a:bodyPr>
          <a:lstStyle/>
          <a:p>
            <a:r>
              <a:rPr lang="en-US" altLang="zh-CN" sz="4800" dirty="0">
                <a:latin typeface="Times New Roman" panose="02020603050405020304" pitchFamily="18" charset="0"/>
                <a:cs typeface="Times New Roman" panose="02020603050405020304" pitchFamily="18" charset="0"/>
              </a:rPr>
              <a:t>Key element</a:t>
            </a:r>
            <a:r>
              <a:rPr lang="zh-CN" altLang="en-US" sz="4800" dirty="0">
                <a:latin typeface="Times New Roman" panose="02020603050405020304" pitchFamily="18" charset="0"/>
                <a:cs typeface="Times New Roman" panose="02020603050405020304" pitchFamily="18" charset="0"/>
              </a:rPr>
              <a:t>：</a:t>
            </a:r>
          </a:p>
        </p:txBody>
      </p:sp>
      <p:pic>
        <p:nvPicPr>
          <p:cNvPr id="7" name="图片 6">
            <a:extLst>
              <a:ext uri="{FF2B5EF4-FFF2-40B4-BE49-F238E27FC236}">
                <a16:creationId xmlns:a16="http://schemas.microsoft.com/office/drawing/2014/main" id="{22C30473-247F-8A87-A296-2F33DF2796E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37815" y="1699162"/>
            <a:ext cx="8113114" cy="3377290"/>
          </a:xfrm>
          <a:prstGeom prst="rect">
            <a:avLst/>
          </a:prstGeom>
        </p:spPr>
      </p:pic>
    </p:spTree>
    <p:extLst>
      <p:ext uri="{BB962C8B-B14F-4D97-AF65-F5344CB8AC3E}">
        <p14:creationId xmlns:p14="http://schemas.microsoft.com/office/powerpoint/2010/main" val="1341353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401306" y="-274696"/>
            <a:ext cx="6227500" cy="1401862"/>
          </a:xfrm>
        </p:spPr>
        <p:txBody>
          <a:bodyPr>
            <a:noAutofit/>
          </a:bodyPr>
          <a:lstStyle/>
          <a:p>
            <a:r>
              <a:rPr lang="en-US" altLang="zh-CN" sz="4800" dirty="0">
                <a:latin typeface="Times New Roman" panose="02020603050405020304" pitchFamily="18" charset="0"/>
                <a:cs typeface="Times New Roman" panose="02020603050405020304" pitchFamily="18" charset="0"/>
              </a:rPr>
              <a:t>Key element</a:t>
            </a:r>
            <a:r>
              <a:rPr lang="zh-CN" altLang="en-US" sz="4800" dirty="0">
                <a:latin typeface="Times New Roman" panose="02020603050405020304" pitchFamily="18" charset="0"/>
                <a:cs typeface="Times New Roman" panose="02020603050405020304" pitchFamily="18" charset="0"/>
              </a:rPr>
              <a:t>：</a:t>
            </a:r>
          </a:p>
        </p:txBody>
      </p:sp>
      <p:pic>
        <p:nvPicPr>
          <p:cNvPr id="7" name="图片 6">
            <a:extLst>
              <a:ext uri="{FF2B5EF4-FFF2-40B4-BE49-F238E27FC236}">
                <a16:creationId xmlns:a16="http://schemas.microsoft.com/office/drawing/2014/main" id="{22C30473-247F-8A87-A296-2F33DF2796E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9617" y="1463040"/>
            <a:ext cx="9843183" cy="3657833"/>
          </a:xfrm>
          <a:prstGeom prst="rect">
            <a:avLst/>
          </a:prstGeom>
        </p:spPr>
      </p:pic>
    </p:spTree>
    <p:extLst>
      <p:ext uri="{BB962C8B-B14F-4D97-AF65-F5344CB8AC3E}">
        <p14:creationId xmlns:p14="http://schemas.microsoft.com/office/powerpoint/2010/main" val="3425757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731521" y="-254924"/>
            <a:ext cx="8163099" cy="1027413"/>
          </a:xfrm>
        </p:spPr>
        <p:txBody>
          <a:bodyPr>
            <a:noAutofit/>
          </a:bodyPr>
          <a:lstStyle/>
          <a:p>
            <a:r>
              <a:rPr lang="en-US" altLang="zh-CN" sz="4800" dirty="0">
                <a:latin typeface="Times New Roman" panose="02020603050405020304" pitchFamily="18" charset="0"/>
                <a:cs typeface="Times New Roman" panose="02020603050405020304" pitchFamily="18" charset="0"/>
              </a:rPr>
              <a:t>Math Framework</a:t>
            </a:r>
            <a:r>
              <a:rPr lang="zh-CN" altLang="en-US" sz="4800" dirty="0">
                <a:latin typeface="Times New Roman" panose="02020603050405020304" pitchFamily="18" charset="0"/>
                <a:cs typeface="Times New Roman" panose="02020603050405020304" pitchFamily="18" charset="0"/>
              </a:rPr>
              <a:t>：</a:t>
            </a:r>
          </a:p>
        </p:txBody>
      </p:sp>
      <p:pic>
        <p:nvPicPr>
          <p:cNvPr id="4" name="图片 3">
            <a:extLst>
              <a:ext uri="{FF2B5EF4-FFF2-40B4-BE49-F238E27FC236}">
                <a16:creationId xmlns:a16="http://schemas.microsoft.com/office/drawing/2014/main" id="{52CF63B0-097D-31BD-559F-592076FAAD36}"/>
              </a:ext>
            </a:extLst>
          </p:cNvPr>
          <p:cNvPicPr>
            <a:picLocks noChangeAspect="1"/>
          </p:cNvPicPr>
          <p:nvPr/>
        </p:nvPicPr>
        <p:blipFill>
          <a:blip r:embed="rId2"/>
          <a:stretch>
            <a:fillRect/>
          </a:stretch>
        </p:blipFill>
        <p:spPr>
          <a:xfrm>
            <a:off x="325125" y="1427093"/>
            <a:ext cx="5499326" cy="2901066"/>
          </a:xfrm>
          <a:prstGeom prst="rect">
            <a:avLst/>
          </a:prstGeom>
        </p:spPr>
      </p:pic>
      <p:pic>
        <p:nvPicPr>
          <p:cNvPr id="6" name="图片 5">
            <a:extLst>
              <a:ext uri="{FF2B5EF4-FFF2-40B4-BE49-F238E27FC236}">
                <a16:creationId xmlns:a16="http://schemas.microsoft.com/office/drawing/2014/main" id="{69559664-CA74-5185-7E35-3A93C072C0D4}"/>
              </a:ext>
            </a:extLst>
          </p:cNvPr>
          <p:cNvPicPr>
            <a:picLocks noChangeAspect="1"/>
          </p:cNvPicPr>
          <p:nvPr/>
        </p:nvPicPr>
        <p:blipFill>
          <a:blip r:embed="rId3"/>
          <a:stretch>
            <a:fillRect/>
          </a:stretch>
        </p:blipFill>
        <p:spPr>
          <a:xfrm>
            <a:off x="6367551" y="2327292"/>
            <a:ext cx="5419765" cy="3400450"/>
          </a:xfrm>
          <a:prstGeom prst="rect">
            <a:avLst/>
          </a:prstGeom>
        </p:spPr>
      </p:pic>
    </p:spTree>
    <p:extLst>
      <p:ext uri="{BB962C8B-B14F-4D97-AF65-F5344CB8AC3E}">
        <p14:creationId xmlns:p14="http://schemas.microsoft.com/office/powerpoint/2010/main" val="1874771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404551" y="-108435"/>
            <a:ext cx="8163099" cy="1027413"/>
          </a:xfrm>
        </p:spPr>
        <p:txBody>
          <a:bodyPr>
            <a:noAutofit/>
          </a:bodyPr>
          <a:lstStyle/>
          <a:p>
            <a:r>
              <a:rPr lang="en-US" altLang="zh-CN" sz="4800" dirty="0">
                <a:latin typeface="Times New Roman" panose="02020603050405020304" pitchFamily="18" charset="0"/>
                <a:cs typeface="Times New Roman" panose="02020603050405020304" pitchFamily="18" charset="0"/>
              </a:rPr>
              <a:t>Experiment Setup</a:t>
            </a:r>
            <a:r>
              <a:rPr lang="zh-CN" altLang="en-US" sz="4800" dirty="0">
                <a:latin typeface="Times New Roman" panose="02020603050405020304" pitchFamily="18" charset="0"/>
                <a:cs typeface="Times New Roman" panose="02020603050405020304" pitchFamily="18" charset="0"/>
              </a:rPr>
              <a:t>：</a:t>
            </a:r>
          </a:p>
        </p:txBody>
      </p:sp>
      <p:pic>
        <p:nvPicPr>
          <p:cNvPr id="5" name="图片 4">
            <a:extLst>
              <a:ext uri="{FF2B5EF4-FFF2-40B4-BE49-F238E27FC236}">
                <a16:creationId xmlns:a16="http://schemas.microsoft.com/office/drawing/2014/main" id="{C2AA7545-9E88-65B1-699D-20C751ED9D4E}"/>
              </a:ext>
            </a:extLst>
          </p:cNvPr>
          <p:cNvPicPr>
            <a:picLocks noChangeAspect="1"/>
          </p:cNvPicPr>
          <p:nvPr/>
        </p:nvPicPr>
        <p:blipFill>
          <a:blip r:embed="rId2"/>
          <a:stretch>
            <a:fillRect/>
          </a:stretch>
        </p:blipFill>
        <p:spPr>
          <a:xfrm>
            <a:off x="604739" y="1033526"/>
            <a:ext cx="5490577" cy="2105340"/>
          </a:xfrm>
          <a:prstGeom prst="rect">
            <a:avLst/>
          </a:prstGeom>
        </p:spPr>
      </p:pic>
      <p:pic>
        <p:nvPicPr>
          <p:cNvPr id="8" name="图片 7">
            <a:extLst>
              <a:ext uri="{FF2B5EF4-FFF2-40B4-BE49-F238E27FC236}">
                <a16:creationId xmlns:a16="http://schemas.microsoft.com/office/drawing/2014/main" id="{54DA1CF3-3DB4-CD49-E574-AD2DD5DA1E4F}"/>
              </a:ext>
            </a:extLst>
          </p:cNvPr>
          <p:cNvPicPr>
            <a:picLocks noChangeAspect="1"/>
          </p:cNvPicPr>
          <p:nvPr/>
        </p:nvPicPr>
        <p:blipFill>
          <a:blip r:embed="rId3"/>
          <a:stretch>
            <a:fillRect/>
          </a:stretch>
        </p:blipFill>
        <p:spPr>
          <a:xfrm>
            <a:off x="788303" y="3273708"/>
            <a:ext cx="5490577" cy="445427"/>
          </a:xfrm>
          <a:prstGeom prst="rect">
            <a:avLst/>
          </a:prstGeom>
        </p:spPr>
      </p:pic>
      <p:pic>
        <p:nvPicPr>
          <p:cNvPr id="10" name="图片 9">
            <a:extLst>
              <a:ext uri="{FF2B5EF4-FFF2-40B4-BE49-F238E27FC236}">
                <a16:creationId xmlns:a16="http://schemas.microsoft.com/office/drawing/2014/main" id="{759476BA-A2DA-6762-A33D-5552077A6BF3}"/>
              </a:ext>
            </a:extLst>
          </p:cNvPr>
          <p:cNvPicPr>
            <a:picLocks noChangeAspect="1"/>
          </p:cNvPicPr>
          <p:nvPr/>
        </p:nvPicPr>
        <p:blipFill>
          <a:blip r:embed="rId4"/>
          <a:stretch>
            <a:fillRect/>
          </a:stretch>
        </p:blipFill>
        <p:spPr>
          <a:xfrm>
            <a:off x="838179" y="3719135"/>
            <a:ext cx="5490577" cy="556119"/>
          </a:xfrm>
          <a:prstGeom prst="rect">
            <a:avLst/>
          </a:prstGeom>
        </p:spPr>
      </p:pic>
      <p:pic>
        <p:nvPicPr>
          <p:cNvPr id="12" name="图片 11">
            <a:extLst>
              <a:ext uri="{FF2B5EF4-FFF2-40B4-BE49-F238E27FC236}">
                <a16:creationId xmlns:a16="http://schemas.microsoft.com/office/drawing/2014/main" id="{5CDD2A8D-831E-9B6B-6B2B-7C03F0E5E369}"/>
              </a:ext>
            </a:extLst>
          </p:cNvPr>
          <p:cNvPicPr>
            <a:picLocks noChangeAspect="1"/>
          </p:cNvPicPr>
          <p:nvPr/>
        </p:nvPicPr>
        <p:blipFill>
          <a:blip r:embed="rId5"/>
          <a:stretch>
            <a:fillRect/>
          </a:stretch>
        </p:blipFill>
        <p:spPr>
          <a:xfrm>
            <a:off x="5715307" y="4504350"/>
            <a:ext cx="5429290" cy="1581162"/>
          </a:xfrm>
          <a:prstGeom prst="rect">
            <a:avLst/>
          </a:prstGeom>
        </p:spPr>
      </p:pic>
    </p:spTree>
    <p:extLst>
      <p:ext uri="{BB962C8B-B14F-4D97-AF65-F5344CB8AC3E}">
        <p14:creationId xmlns:p14="http://schemas.microsoft.com/office/powerpoint/2010/main" val="83573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216129" y="-193831"/>
            <a:ext cx="8163099" cy="1027413"/>
          </a:xfrm>
        </p:spPr>
        <p:txBody>
          <a:bodyPr>
            <a:noAutofit/>
          </a:bodyPr>
          <a:lstStyle/>
          <a:p>
            <a:r>
              <a:rPr lang="en-US" altLang="zh-CN" sz="4800" dirty="0">
                <a:latin typeface="Times New Roman" panose="02020603050405020304" pitchFamily="18" charset="0"/>
                <a:cs typeface="Times New Roman" panose="02020603050405020304" pitchFamily="18" charset="0"/>
              </a:rPr>
              <a:t>Result Comparison</a:t>
            </a:r>
            <a:r>
              <a:rPr lang="zh-CN" altLang="en-US" sz="4800" dirty="0">
                <a:latin typeface="Times New Roman" panose="02020603050405020304" pitchFamily="18" charset="0"/>
                <a:cs typeface="Times New Roman" panose="02020603050405020304" pitchFamily="18" charset="0"/>
              </a:rPr>
              <a:t>：</a:t>
            </a:r>
          </a:p>
        </p:txBody>
      </p:sp>
      <p:sp>
        <p:nvSpPr>
          <p:cNvPr id="4" name="文本框 3">
            <a:extLst>
              <a:ext uri="{FF2B5EF4-FFF2-40B4-BE49-F238E27FC236}">
                <a16:creationId xmlns:a16="http://schemas.microsoft.com/office/drawing/2014/main" id="{9FF6406B-34B4-2B01-47A4-FCA37D4EED00}"/>
              </a:ext>
            </a:extLst>
          </p:cNvPr>
          <p:cNvSpPr txBox="1"/>
          <p:nvPr/>
        </p:nvSpPr>
        <p:spPr>
          <a:xfrm>
            <a:off x="5264730" y="301505"/>
            <a:ext cx="6711141" cy="707886"/>
          </a:xfrm>
          <a:prstGeom prst="rect">
            <a:avLst/>
          </a:prstGeom>
          <a:noFill/>
        </p:spPr>
        <p:txBody>
          <a:bodyPr wrap="square">
            <a:spAutoFit/>
          </a:bodyPr>
          <a:lstStyle/>
          <a:p>
            <a:pPr>
              <a:lnSpc>
                <a:spcPts val="2400"/>
              </a:lnSpc>
            </a:pPr>
            <a:r>
              <a:rPr lang="en-US" altLang="zh-CN" sz="2000" b="0" i="1" dirty="0">
                <a:effectLst/>
                <a:latin typeface="Consolas" panose="020B0609020204030204" pitchFamily="49" charset="0"/>
              </a:rPr>
              <a:t>zero-line capacity </a:t>
            </a:r>
            <a:r>
              <a:rPr lang="en-US" altLang="zh-CN" sz="2000" i="1" dirty="0">
                <a:latin typeface="Consolas" panose="020B0609020204030204" pitchFamily="49" charset="0"/>
              </a:rPr>
              <a:t>and infinite-line capacity</a:t>
            </a:r>
          </a:p>
          <a:p>
            <a:pPr>
              <a:lnSpc>
                <a:spcPts val="2400"/>
              </a:lnSpc>
            </a:pPr>
            <a:endParaRPr lang="en-US" altLang="zh-CN" sz="2000" b="0" dirty="0">
              <a:effectLst/>
              <a:latin typeface="Consolas" panose="020B0609020204030204" pitchFamily="49" charset="0"/>
            </a:endParaRPr>
          </a:p>
        </p:txBody>
      </p:sp>
      <p:pic>
        <p:nvPicPr>
          <p:cNvPr id="18" name="图片 17">
            <a:extLst>
              <a:ext uri="{FF2B5EF4-FFF2-40B4-BE49-F238E27FC236}">
                <a16:creationId xmlns:a16="http://schemas.microsoft.com/office/drawing/2014/main" id="{39BD7A44-474F-9F7C-DBC3-6C6558D414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479" y="754524"/>
            <a:ext cx="5909878" cy="3545927"/>
          </a:xfrm>
          <a:prstGeom prst="rect">
            <a:avLst/>
          </a:prstGeom>
        </p:spPr>
      </p:pic>
      <p:pic>
        <p:nvPicPr>
          <p:cNvPr id="19" name="图片 18">
            <a:extLst>
              <a:ext uri="{FF2B5EF4-FFF2-40B4-BE49-F238E27FC236}">
                <a16:creationId xmlns:a16="http://schemas.microsoft.com/office/drawing/2014/main" id="{B8D4D6A1-B447-A258-8650-7B6BBA1E67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0395" y="757128"/>
            <a:ext cx="5909878" cy="3540719"/>
          </a:xfrm>
          <a:prstGeom prst="rect">
            <a:avLst/>
          </a:prstGeom>
        </p:spPr>
      </p:pic>
      <p:sp>
        <p:nvSpPr>
          <p:cNvPr id="21" name="文本框 20">
            <a:extLst>
              <a:ext uri="{FF2B5EF4-FFF2-40B4-BE49-F238E27FC236}">
                <a16:creationId xmlns:a16="http://schemas.microsoft.com/office/drawing/2014/main" id="{B6467514-176A-13BC-D332-5A86619BE313}"/>
              </a:ext>
            </a:extLst>
          </p:cNvPr>
          <p:cNvSpPr txBox="1"/>
          <p:nvPr/>
        </p:nvSpPr>
        <p:spPr>
          <a:xfrm>
            <a:off x="956582" y="4496110"/>
            <a:ext cx="10043431" cy="1754326"/>
          </a:xfrm>
          <a:prstGeom prst="rect">
            <a:avLst/>
          </a:prstGeom>
          <a:noFill/>
        </p:spPr>
        <p:txBody>
          <a:bodyPr wrap="square">
            <a:spAutoFit/>
          </a:bodyPr>
          <a:lstStyle/>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Coverage Distribution</a:t>
            </a:r>
            <a:r>
              <a:rPr lang="en-US" altLang="zh-CN" b="0" i="0" dirty="0">
                <a:solidFill>
                  <a:srgbClr val="0D0D0D"/>
                </a:solidFill>
                <a:effectLst/>
                <a:latin typeface="Segoe UI Variable Text" pitchFamily="2" charset="0"/>
              </a:rPr>
              <a:t>: The zero-line capacity model exhibits more uniform dispatch fractions across response units, while the infinite-line capacity model shows a pronounced specialization for certain units, such as Unit 2 dominating Atom 0 dispatches.</a:t>
            </a:r>
          </a:p>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Geographical Variability</a:t>
            </a:r>
            <a:r>
              <a:rPr lang="en-US" altLang="zh-CN" b="0" i="0" dirty="0">
                <a:solidFill>
                  <a:srgbClr val="0D0D0D"/>
                </a:solidFill>
                <a:effectLst/>
                <a:latin typeface="Segoe UI Variable Text" pitchFamily="2" charset="0"/>
              </a:rPr>
              <a:t>: In the zero-line capacity scenario, all units contribute more evenly to multiple geographical atoms, whereas the infinite-line capacity model concentrates dispatch activity on fewer units for specific atoms.</a:t>
            </a:r>
          </a:p>
        </p:txBody>
      </p:sp>
    </p:spTree>
    <p:extLst>
      <p:ext uri="{BB962C8B-B14F-4D97-AF65-F5344CB8AC3E}">
        <p14:creationId xmlns:p14="http://schemas.microsoft.com/office/powerpoint/2010/main" val="4163025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216129" y="-193831"/>
            <a:ext cx="8163099" cy="1027413"/>
          </a:xfrm>
        </p:spPr>
        <p:txBody>
          <a:bodyPr>
            <a:noAutofit/>
          </a:bodyPr>
          <a:lstStyle/>
          <a:p>
            <a:r>
              <a:rPr lang="en-US" altLang="zh-CN" sz="4800" dirty="0">
                <a:latin typeface="Times New Roman" panose="02020603050405020304" pitchFamily="18" charset="0"/>
                <a:cs typeface="Times New Roman" panose="02020603050405020304" pitchFamily="18" charset="0"/>
              </a:rPr>
              <a:t>Result Comparison</a:t>
            </a:r>
            <a:r>
              <a:rPr lang="zh-CN" altLang="en-US" sz="4800" dirty="0">
                <a:latin typeface="Times New Roman" panose="02020603050405020304" pitchFamily="18" charset="0"/>
                <a:cs typeface="Times New Roman" panose="02020603050405020304" pitchFamily="18" charset="0"/>
              </a:rPr>
              <a:t>：</a:t>
            </a:r>
          </a:p>
        </p:txBody>
      </p:sp>
      <p:sp>
        <p:nvSpPr>
          <p:cNvPr id="4" name="文本框 3">
            <a:extLst>
              <a:ext uri="{FF2B5EF4-FFF2-40B4-BE49-F238E27FC236}">
                <a16:creationId xmlns:a16="http://schemas.microsoft.com/office/drawing/2014/main" id="{9FF6406B-34B4-2B01-47A4-FCA37D4EED00}"/>
              </a:ext>
            </a:extLst>
          </p:cNvPr>
          <p:cNvSpPr txBox="1"/>
          <p:nvPr/>
        </p:nvSpPr>
        <p:spPr>
          <a:xfrm>
            <a:off x="5264730" y="301505"/>
            <a:ext cx="6711141" cy="707886"/>
          </a:xfrm>
          <a:prstGeom prst="rect">
            <a:avLst/>
          </a:prstGeom>
          <a:noFill/>
        </p:spPr>
        <p:txBody>
          <a:bodyPr wrap="square">
            <a:spAutoFit/>
          </a:bodyPr>
          <a:lstStyle/>
          <a:p>
            <a:pPr>
              <a:lnSpc>
                <a:spcPts val="2400"/>
              </a:lnSpc>
            </a:pPr>
            <a:r>
              <a:rPr lang="en-US" altLang="zh-CN" sz="2000" b="0" i="1" dirty="0">
                <a:effectLst/>
                <a:latin typeface="Consolas" panose="020B0609020204030204" pitchFamily="49" charset="0"/>
              </a:rPr>
              <a:t>zero-line capacity </a:t>
            </a:r>
            <a:r>
              <a:rPr lang="en-US" altLang="zh-CN" sz="2000" i="1" dirty="0">
                <a:latin typeface="Consolas" panose="020B0609020204030204" pitchFamily="49" charset="0"/>
              </a:rPr>
              <a:t>and infinite-line capacity</a:t>
            </a:r>
          </a:p>
          <a:p>
            <a:pPr>
              <a:lnSpc>
                <a:spcPts val="2400"/>
              </a:lnSpc>
            </a:pPr>
            <a:endParaRPr lang="en-US" altLang="zh-CN" sz="2000" b="0" dirty="0">
              <a:effectLst/>
              <a:latin typeface="Consolas" panose="020B0609020204030204" pitchFamily="49" charset="0"/>
            </a:endParaRPr>
          </a:p>
        </p:txBody>
      </p:sp>
      <p:pic>
        <p:nvPicPr>
          <p:cNvPr id="18" name="图片 17">
            <a:extLst>
              <a:ext uri="{FF2B5EF4-FFF2-40B4-BE49-F238E27FC236}">
                <a16:creationId xmlns:a16="http://schemas.microsoft.com/office/drawing/2014/main" id="{39BD7A44-474F-9F7C-DBC3-6C6558D4143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15479" y="754524"/>
            <a:ext cx="5909878" cy="3545926"/>
          </a:xfrm>
          <a:prstGeom prst="rect">
            <a:avLst/>
          </a:prstGeom>
        </p:spPr>
      </p:pic>
      <p:pic>
        <p:nvPicPr>
          <p:cNvPr id="19" name="图片 18">
            <a:extLst>
              <a:ext uri="{FF2B5EF4-FFF2-40B4-BE49-F238E27FC236}">
                <a16:creationId xmlns:a16="http://schemas.microsoft.com/office/drawing/2014/main" id="{B8D4D6A1-B447-A258-8650-7B6BBA1E67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009" y="757128"/>
            <a:ext cx="5894649" cy="3540719"/>
          </a:xfrm>
          <a:prstGeom prst="rect">
            <a:avLst/>
          </a:prstGeom>
        </p:spPr>
      </p:pic>
      <p:sp>
        <p:nvSpPr>
          <p:cNvPr id="9" name="文本框 8">
            <a:extLst>
              <a:ext uri="{FF2B5EF4-FFF2-40B4-BE49-F238E27FC236}">
                <a16:creationId xmlns:a16="http://schemas.microsoft.com/office/drawing/2014/main" id="{74378D72-EE48-61ED-99D9-4BD8FD618B14}"/>
              </a:ext>
            </a:extLst>
          </p:cNvPr>
          <p:cNvSpPr txBox="1"/>
          <p:nvPr/>
        </p:nvSpPr>
        <p:spPr>
          <a:xfrm>
            <a:off x="945696" y="4548110"/>
            <a:ext cx="10152290" cy="1754326"/>
          </a:xfrm>
          <a:prstGeom prst="rect">
            <a:avLst/>
          </a:prstGeom>
          <a:noFill/>
        </p:spPr>
        <p:txBody>
          <a:bodyPr wrap="square">
            <a:spAutoFit/>
          </a:bodyPr>
          <a:lstStyle/>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Peak State Probability</a:t>
            </a:r>
            <a:r>
              <a:rPr lang="en-US" altLang="zh-CN" b="0" i="0" dirty="0">
                <a:solidFill>
                  <a:srgbClr val="0D0D0D"/>
                </a:solidFill>
                <a:effectLst/>
                <a:latin typeface="Segoe UI Variable Text" pitchFamily="2" charset="0"/>
              </a:rPr>
              <a:t>: In both models, the all-units-available state dominates with the highest probability (</a:t>
            </a:r>
            <a:r>
              <a:rPr lang="en-US" altLang="zh-CN" b="0" i="0" dirty="0">
                <a:solidFill>
                  <a:srgbClr val="0D0D0D"/>
                </a:solidFill>
                <a:effectLst/>
                <a:latin typeface="KaTeX_Main"/>
              </a:rPr>
              <a:t>≈0.35</a:t>
            </a:r>
            <a:r>
              <a:rPr lang="en-US" altLang="zh-CN" b="0" i="0" dirty="0">
                <a:solidFill>
                  <a:srgbClr val="0D0D0D"/>
                </a:solidFill>
                <a:effectLst/>
                <a:latin typeface="Segoe UI Variable Text" pitchFamily="2" charset="0"/>
              </a:rPr>
              <a:t>), but the infinite-line capacity model shows smoother transitions across other states compared to the zero-line capacity model.</a:t>
            </a:r>
          </a:p>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Rare Busy States</a:t>
            </a:r>
            <a:r>
              <a:rPr lang="en-US" altLang="zh-CN" b="0" i="0" dirty="0">
                <a:solidFill>
                  <a:srgbClr val="0D0D0D"/>
                </a:solidFill>
                <a:effectLst/>
                <a:latin typeface="Segoe UI Variable Text" pitchFamily="2" charset="0"/>
              </a:rPr>
              <a:t>: The zero-line capacity model exhibits sharper peaks for intermediate states indicating higher likelihoods of specific busy configurations compared to the infinite-line capacity model, which distributes probabilities more evenly.</a:t>
            </a:r>
          </a:p>
        </p:txBody>
      </p:sp>
    </p:spTree>
    <p:extLst>
      <p:ext uri="{BB962C8B-B14F-4D97-AF65-F5344CB8AC3E}">
        <p14:creationId xmlns:p14="http://schemas.microsoft.com/office/powerpoint/2010/main" val="3861552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216129" y="-193831"/>
            <a:ext cx="8163099" cy="1027413"/>
          </a:xfrm>
        </p:spPr>
        <p:txBody>
          <a:bodyPr>
            <a:noAutofit/>
          </a:bodyPr>
          <a:lstStyle/>
          <a:p>
            <a:r>
              <a:rPr lang="en-US" altLang="zh-CN" sz="4800" dirty="0">
                <a:latin typeface="Times New Roman" panose="02020603050405020304" pitchFamily="18" charset="0"/>
                <a:cs typeface="Times New Roman" panose="02020603050405020304" pitchFamily="18" charset="0"/>
              </a:rPr>
              <a:t>Result Comparison</a:t>
            </a:r>
            <a:r>
              <a:rPr lang="zh-CN" altLang="en-US" sz="4800" dirty="0">
                <a:latin typeface="Times New Roman" panose="02020603050405020304" pitchFamily="18" charset="0"/>
                <a:cs typeface="Times New Roman" panose="02020603050405020304" pitchFamily="18" charset="0"/>
              </a:rPr>
              <a:t>：</a:t>
            </a:r>
          </a:p>
        </p:txBody>
      </p:sp>
      <p:sp>
        <p:nvSpPr>
          <p:cNvPr id="4" name="文本框 3">
            <a:extLst>
              <a:ext uri="{FF2B5EF4-FFF2-40B4-BE49-F238E27FC236}">
                <a16:creationId xmlns:a16="http://schemas.microsoft.com/office/drawing/2014/main" id="{9FF6406B-34B4-2B01-47A4-FCA37D4EED00}"/>
              </a:ext>
            </a:extLst>
          </p:cNvPr>
          <p:cNvSpPr txBox="1"/>
          <p:nvPr/>
        </p:nvSpPr>
        <p:spPr>
          <a:xfrm>
            <a:off x="5264730" y="301505"/>
            <a:ext cx="6711141" cy="707886"/>
          </a:xfrm>
          <a:prstGeom prst="rect">
            <a:avLst/>
          </a:prstGeom>
          <a:noFill/>
        </p:spPr>
        <p:txBody>
          <a:bodyPr wrap="square">
            <a:spAutoFit/>
          </a:bodyPr>
          <a:lstStyle/>
          <a:p>
            <a:pPr>
              <a:lnSpc>
                <a:spcPts val="2400"/>
              </a:lnSpc>
            </a:pPr>
            <a:r>
              <a:rPr lang="en-US" altLang="zh-CN" sz="2000" b="0" i="1" dirty="0">
                <a:effectLst/>
                <a:latin typeface="Consolas" panose="020B0609020204030204" pitchFamily="49" charset="0"/>
              </a:rPr>
              <a:t>zero-line capacity </a:t>
            </a:r>
            <a:r>
              <a:rPr lang="en-US" altLang="zh-CN" sz="2000" i="1" dirty="0">
                <a:latin typeface="Consolas" panose="020B0609020204030204" pitchFamily="49" charset="0"/>
              </a:rPr>
              <a:t>and infinite-line capacity</a:t>
            </a:r>
          </a:p>
          <a:p>
            <a:pPr>
              <a:lnSpc>
                <a:spcPts val="2400"/>
              </a:lnSpc>
            </a:pPr>
            <a:endParaRPr lang="en-US" altLang="zh-CN" sz="2000" b="0" dirty="0">
              <a:effectLst/>
              <a:latin typeface="Consolas" panose="020B0609020204030204" pitchFamily="49" charset="0"/>
            </a:endParaRPr>
          </a:p>
        </p:txBody>
      </p:sp>
      <p:pic>
        <p:nvPicPr>
          <p:cNvPr id="18" name="图片 17">
            <a:extLst>
              <a:ext uri="{FF2B5EF4-FFF2-40B4-BE49-F238E27FC236}">
                <a16:creationId xmlns:a16="http://schemas.microsoft.com/office/drawing/2014/main" id="{39BD7A44-474F-9F7C-DBC3-6C6558D4143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15479" y="754524"/>
            <a:ext cx="5909878" cy="3545926"/>
          </a:xfrm>
          <a:prstGeom prst="rect">
            <a:avLst/>
          </a:prstGeom>
        </p:spPr>
      </p:pic>
      <p:pic>
        <p:nvPicPr>
          <p:cNvPr id="19" name="图片 18">
            <a:extLst>
              <a:ext uri="{FF2B5EF4-FFF2-40B4-BE49-F238E27FC236}">
                <a16:creationId xmlns:a16="http://schemas.microsoft.com/office/drawing/2014/main" id="{B8D4D6A1-B447-A258-8650-7B6BBA1E67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009" y="757128"/>
            <a:ext cx="5894649" cy="3540719"/>
          </a:xfrm>
          <a:prstGeom prst="rect">
            <a:avLst/>
          </a:prstGeom>
        </p:spPr>
      </p:pic>
      <p:sp>
        <p:nvSpPr>
          <p:cNvPr id="13" name="文本框 12">
            <a:extLst>
              <a:ext uri="{FF2B5EF4-FFF2-40B4-BE49-F238E27FC236}">
                <a16:creationId xmlns:a16="http://schemas.microsoft.com/office/drawing/2014/main" id="{91884F00-48DE-FB6E-1983-4795C24D6E96}"/>
              </a:ext>
            </a:extLst>
          </p:cNvPr>
          <p:cNvSpPr txBox="1"/>
          <p:nvPr/>
        </p:nvSpPr>
        <p:spPr>
          <a:xfrm>
            <a:off x="706210" y="4352168"/>
            <a:ext cx="9961789" cy="1754326"/>
          </a:xfrm>
          <a:prstGeom prst="rect">
            <a:avLst/>
          </a:prstGeom>
          <a:noFill/>
        </p:spPr>
        <p:txBody>
          <a:bodyPr wrap="square">
            <a:spAutoFit/>
          </a:bodyPr>
          <a:lstStyle/>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Unit 0 Dominance</a:t>
            </a:r>
            <a:r>
              <a:rPr lang="en-US" altLang="zh-CN" b="0" i="0" dirty="0">
                <a:solidFill>
                  <a:srgbClr val="0D0D0D"/>
                </a:solidFill>
                <a:effectLst/>
                <a:latin typeface="Segoe UI Variable Text" pitchFamily="2" charset="0"/>
              </a:rPr>
              <a:t>: In both models, Response Unit 0 consistently has the highest travel time, but it is more pronounced in the infinite-line capacity model (</a:t>
            </a:r>
            <a:r>
              <a:rPr lang="en-US" altLang="zh-CN" b="0" i="0" dirty="0">
                <a:solidFill>
                  <a:srgbClr val="0D0D0D"/>
                </a:solidFill>
                <a:effectLst/>
                <a:latin typeface="KaTeX_Main"/>
              </a:rPr>
              <a:t>≈0.9</a:t>
            </a:r>
            <a:r>
              <a:rPr lang="en-US" altLang="zh-CN" b="0" i="0" dirty="0">
                <a:solidFill>
                  <a:srgbClr val="0D0D0D"/>
                </a:solidFill>
                <a:effectLst/>
                <a:latin typeface="Segoe UI Variable Text" pitchFamily="2" charset="0"/>
              </a:rPr>
              <a:t>) compared to the zero-line capacity model (</a:t>
            </a:r>
            <a:r>
              <a:rPr lang="en-US" altLang="zh-CN" b="0" i="0" dirty="0">
                <a:solidFill>
                  <a:srgbClr val="0D0D0D"/>
                </a:solidFill>
                <a:effectLst/>
                <a:latin typeface="KaTeX_Main"/>
              </a:rPr>
              <a:t>≈0.6</a:t>
            </a:r>
            <a:r>
              <a:rPr lang="en-US" altLang="zh-CN" b="0" i="0" dirty="0">
                <a:solidFill>
                  <a:srgbClr val="0D0D0D"/>
                </a:solidFill>
                <a:effectLst/>
                <a:latin typeface="Segoe UI Variable Text" pitchFamily="2" charset="0"/>
              </a:rPr>
              <a:t>), indicating a higher reliance on Unit 0 in the infinite-line scenario.</a:t>
            </a:r>
          </a:p>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Balanced Travel Times</a:t>
            </a:r>
            <a:r>
              <a:rPr lang="en-US" altLang="zh-CN" b="0" i="0" dirty="0">
                <a:solidFill>
                  <a:srgbClr val="0D0D0D"/>
                </a:solidFill>
                <a:effectLst/>
                <a:latin typeface="Segoe UI Variable Text" pitchFamily="2" charset="0"/>
              </a:rPr>
              <a:t>: The zero-line capacity model exhibits a more balanced travel time distribution across other units, while the infinite-line capacity model shows greater variability, with Unit 1 having significantly lower travel times in the infinite-line model.</a:t>
            </a:r>
          </a:p>
        </p:txBody>
      </p:sp>
    </p:spTree>
    <p:extLst>
      <p:ext uri="{BB962C8B-B14F-4D97-AF65-F5344CB8AC3E}">
        <p14:creationId xmlns:p14="http://schemas.microsoft.com/office/powerpoint/2010/main" val="1168571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1237-E5B7-2E2C-1EBB-24B556EFAF22}"/>
              </a:ext>
            </a:extLst>
          </p:cNvPr>
          <p:cNvSpPr>
            <a:spLocks noGrp="1"/>
          </p:cNvSpPr>
          <p:nvPr>
            <p:ph type="ctrTitle"/>
          </p:nvPr>
        </p:nvSpPr>
        <p:spPr>
          <a:xfrm>
            <a:off x="427333" y="-579792"/>
            <a:ext cx="10712414" cy="1691640"/>
          </a:xfrm>
        </p:spPr>
        <p:txBody>
          <a:bodyPr>
            <a:noAutofit/>
          </a:bodyPr>
          <a:lstStyle/>
          <a:p>
            <a:r>
              <a:rPr lang="en-US" altLang="zh-CN" sz="4800" dirty="0">
                <a:latin typeface="Times New Roman" panose="02020603050405020304" pitchFamily="18" charset="0"/>
                <a:cs typeface="Times New Roman" panose="02020603050405020304" pitchFamily="18" charset="0"/>
              </a:rPr>
              <a:t>Summary</a:t>
            </a:r>
            <a:r>
              <a:rPr lang="zh-CN" altLang="en-US" sz="4800" dirty="0">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F68CF11C-D4E9-2EC0-29BA-B30751432F78}"/>
              </a:ext>
            </a:extLst>
          </p:cNvPr>
          <p:cNvSpPr txBox="1"/>
          <p:nvPr/>
        </p:nvSpPr>
        <p:spPr>
          <a:xfrm>
            <a:off x="917122" y="1844183"/>
            <a:ext cx="10550978" cy="3970318"/>
          </a:xfrm>
          <a:prstGeom prst="rect">
            <a:avLst/>
          </a:prstGeom>
          <a:noFill/>
        </p:spPr>
        <p:txBody>
          <a:bodyPr wrap="square" rtlCol="0">
            <a:spAutoFit/>
          </a:bodyPr>
          <a:lstStyle/>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Dispatch and State Patterns</a:t>
            </a:r>
            <a:r>
              <a:rPr lang="en-US" altLang="zh-CN" b="0" i="0" dirty="0">
                <a:solidFill>
                  <a:srgbClr val="0D0D0D"/>
                </a:solidFill>
                <a:effectLst/>
                <a:latin typeface="Segoe UI Variable Text" pitchFamily="2" charset="0"/>
              </a:rPr>
              <a:t>: The zero-line capacity model achieves more balanced dispatch probabilities and sharper peaks for intermediate busy states, while the infinite-line capacity model centralizes activity on specific units with smoother transitions, highlighting potential for dynamic dispatch optimization in future studies.</a:t>
            </a:r>
          </a:p>
          <a:p>
            <a:pPr marL="285750" indent="-285750" algn="l">
              <a:buFont typeface="Arial" panose="020B0604020202020204" pitchFamily="34" charset="0"/>
              <a:buChar char="•"/>
            </a:pPr>
            <a:endParaRPr lang="en-US" altLang="zh-CN" dirty="0">
              <a:solidFill>
                <a:srgbClr val="0D0D0D"/>
              </a:solidFill>
              <a:latin typeface="Segoe UI Variable Text" pitchFamily="2" charset="0"/>
            </a:endParaRPr>
          </a:p>
          <a:p>
            <a:pPr marL="285750" indent="-285750" algn="l">
              <a:buFont typeface="Arial" panose="020B0604020202020204" pitchFamily="34" charset="0"/>
              <a:buChar char="•"/>
            </a:pPr>
            <a:endParaRPr lang="en-US" altLang="zh-CN" b="0" i="0" dirty="0">
              <a:solidFill>
                <a:srgbClr val="0D0D0D"/>
              </a:solidFill>
              <a:effectLst/>
              <a:latin typeface="Segoe UI Variable Text" pitchFamily="2" charset="0"/>
            </a:endParaRPr>
          </a:p>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Travel Time Variability</a:t>
            </a:r>
            <a:r>
              <a:rPr lang="en-US" altLang="zh-CN" b="0" i="0" dirty="0">
                <a:solidFill>
                  <a:srgbClr val="0D0D0D"/>
                </a:solidFill>
                <a:effectLst/>
                <a:latin typeface="Segoe UI Variable Text" pitchFamily="2" charset="0"/>
              </a:rPr>
              <a:t>: The infinite-line capacity model shows higher variability in travel times, especially for Unit 0, emphasizing the need for geospatial optimization to reduce travel inefficiencies and improve response times.</a:t>
            </a:r>
          </a:p>
          <a:p>
            <a:pPr marL="285750" indent="-285750" algn="l">
              <a:buFont typeface="Arial" panose="020B0604020202020204" pitchFamily="34" charset="0"/>
              <a:buChar char="•"/>
            </a:pPr>
            <a:endParaRPr lang="en-US" altLang="zh-CN" dirty="0">
              <a:solidFill>
                <a:srgbClr val="0D0D0D"/>
              </a:solidFill>
              <a:latin typeface="Segoe UI Variable Text" pitchFamily="2" charset="0"/>
            </a:endParaRPr>
          </a:p>
          <a:p>
            <a:pPr marL="285750" indent="-285750" algn="l">
              <a:buFont typeface="Arial" panose="020B0604020202020204" pitchFamily="34" charset="0"/>
              <a:buChar char="•"/>
            </a:pPr>
            <a:endParaRPr lang="en-US" altLang="zh-CN" b="0" i="0" dirty="0">
              <a:solidFill>
                <a:srgbClr val="0D0D0D"/>
              </a:solidFill>
              <a:effectLst/>
              <a:latin typeface="Segoe UI Variable Text" pitchFamily="2" charset="0"/>
            </a:endParaRPr>
          </a:p>
          <a:p>
            <a:pPr marL="285750" indent="-285750" algn="l">
              <a:buFont typeface="Arial" panose="020B0604020202020204" pitchFamily="34" charset="0"/>
              <a:buChar char="•"/>
            </a:pPr>
            <a:r>
              <a:rPr lang="en-US" altLang="zh-CN" b="1" i="0" dirty="0">
                <a:solidFill>
                  <a:srgbClr val="0D0D0D"/>
                </a:solidFill>
                <a:effectLst/>
                <a:latin typeface="Segoe UI Variable Text" pitchFamily="2" charset="0"/>
              </a:rPr>
              <a:t>Adaptive and Hybrid Models</a:t>
            </a:r>
            <a:r>
              <a:rPr lang="en-US" altLang="zh-CN" b="0" i="0" dirty="0">
                <a:solidFill>
                  <a:srgbClr val="0D0D0D"/>
                </a:solidFill>
                <a:effectLst/>
                <a:latin typeface="Segoe UI Variable Text" pitchFamily="2" charset="0"/>
              </a:rPr>
              <a:t>: Future work could explore adaptive dispatch policies and hybrid capacity models, combining zero-line and infinite-line features to handle practical constraints and improve overall system performance</a:t>
            </a:r>
          </a:p>
        </p:txBody>
      </p:sp>
    </p:spTree>
    <p:extLst>
      <p:ext uri="{BB962C8B-B14F-4D97-AF65-F5344CB8AC3E}">
        <p14:creationId xmlns:p14="http://schemas.microsoft.com/office/powerpoint/2010/main" val="1853627219"/>
      </p:ext>
    </p:extLst>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55</TotalTime>
  <Words>908</Words>
  <Application>Microsoft Office PowerPoint</Application>
  <PresentationFormat>宽屏</PresentationFormat>
  <Paragraphs>54</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KaTeX_Main</vt:lpstr>
      <vt:lpstr>Arial</vt:lpstr>
      <vt:lpstr>Calibri</vt:lpstr>
      <vt:lpstr>Calibri Light</vt:lpstr>
      <vt:lpstr>Cambria Math</vt:lpstr>
      <vt:lpstr>Consolas</vt:lpstr>
      <vt:lpstr>Segoe UI Variable Text</vt:lpstr>
      <vt:lpstr>Times New Roman</vt:lpstr>
      <vt:lpstr>回顾</vt:lpstr>
      <vt:lpstr>Project：Hypercube Queuing Model</vt:lpstr>
      <vt:lpstr>Introduction：</vt:lpstr>
      <vt:lpstr>Queueing theory：</vt:lpstr>
      <vt:lpstr>Basic M/M/1 queue：</vt:lpstr>
      <vt:lpstr>M/M/N queue：</vt:lpstr>
      <vt:lpstr>Key element：</vt:lpstr>
      <vt:lpstr>Key element：</vt:lpstr>
      <vt:lpstr>Key element：</vt:lpstr>
      <vt:lpstr>Math Framework：</vt:lpstr>
      <vt:lpstr>Experiment Setup：</vt:lpstr>
      <vt:lpstr>Result Comparison：</vt:lpstr>
      <vt:lpstr>Result Comparison：</vt:lpstr>
      <vt:lpstr>Result Comparison：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Yuqun Zhou</dc:creator>
  <cp:lastModifiedBy>Yuqun Zhou</cp:lastModifiedBy>
  <cp:revision>54</cp:revision>
  <dcterms:created xsi:type="dcterms:W3CDTF">2024-12-01T18:38:24Z</dcterms:created>
  <dcterms:modified xsi:type="dcterms:W3CDTF">2024-12-01T21:29:46Z</dcterms:modified>
</cp:coreProperties>
</file>