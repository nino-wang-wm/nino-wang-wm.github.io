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71" r:id="rId6"/>
    <p:sldId id="272" r:id="rId7"/>
    <p:sldId id="273" r:id="rId8"/>
    <p:sldId id="261" r:id="rId9"/>
    <p:sldId id="262" r:id="rId10"/>
    <p:sldId id="263" r:id="rId11"/>
    <p:sldId id="264" r:id="rId12"/>
    <p:sldId id="267"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48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986118" y="735106"/>
            <a:ext cx="7540322" cy="2928470"/>
          </a:xfrm>
        </p:spPr>
        <p:txBody>
          <a:bodyPr anchor="b">
            <a:normAutofit/>
          </a:bodyPr>
          <a:lstStyle/>
          <a:p>
            <a:pPr algn="l"/>
            <a:r>
              <a:rPr lang="en-US" sz="4200">
                <a:solidFill>
                  <a:srgbClr val="FFFFFF"/>
                </a:solidFill>
              </a:rPr>
              <a:t>Enabling Robust Path Planning for Autonomous Vehicles Using Improved Ant Colony Algorithm</a:t>
            </a:r>
          </a:p>
        </p:txBody>
      </p:sp>
      <p:sp>
        <p:nvSpPr>
          <p:cNvPr id="3" name="Subtitle 2"/>
          <p:cNvSpPr>
            <a:spLocks noGrp="1"/>
          </p:cNvSpPr>
          <p:nvPr>
            <p:ph type="subTitle" idx="1"/>
          </p:nvPr>
        </p:nvSpPr>
        <p:spPr>
          <a:xfrm>
            <a:off x="1013011" y="4870824"/>
            <a:ext cx="7504463" cy="1458258"/>
          </a:xfrm>
        </p:spPr>
        <p:txBody>
          <a:bodyPr anchor="ctr">
            <a:normAutofit/>
          </a:bodyPr>
          <a:lstStyle/>
          <a:p>
            <a:pPr algn="r">
              <a:lnSpc>
                <a:spcPct val="90000"/>
              </a:lnSpc>
            </a:pPr>
            <a:r>
              <a:rPr lang="en-US" sz="2700" dirty="0"/>
              <a:t>A Comprehensive Study</a:t>
            </a:r>
          </a:p>
          <a:p>
            <a:pPr algn="r">
              <a:lnSpc>
                <a:spcPct val="90000"/>
              </a:lnSpc>
            </a:pPr>
            <a:r>
              <a:rPr lang="en-US" sz="2700" dirty="0" err="1"/>
              <a:t>Jiufan</a:t>
            </a:r>
            <a:r>
              <a:rPr lang="en-US" sz="2700" dirty="0"/>
              <a:t> Wang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44512" y="363403"/>
            <a:ext cx="7421963" cy="1033669"/>
          </a:xfrm>
        </p:spPr>
        <p:txBody>
          <a:bodyPr>
            <a:normAutofit/>
          </a:bodyPr>
          <a:lstStyle/>
          <a:p>
            <a:pPr algn="l"/>
            <a:r>
              <a:rPr lang="en-US" sz="3500" dirty="0">
                <a:solidFill>
                  <a:srgbClr val="FFFFFF"/>
                </a:solidFill>
              </a:rPr>
              <a:t>Introduction</a:t>
            </a:r>
          </a:p>
        </p:txBody>
      </p:sp>
      <p:sp>
        <p:nvSpPr>
          <p:cNvPr id="3" name="Content Placeholder 2"/>
          <p:cNvSpPr>
            <a:spLocks noGrp="1"/>
          </p:cNvSpPr>
          <p:nvPr>
            <p:ph idx="1"/>
          </p:nvPr>
        </p:nvSpPr>
        <p:spPr>
          <a:xfrm>
            <a:off x="742859" y="2277200"/>
            <a:ext cx="7293023" cy="3683358"/>
          </a:xfrm>
        </p:spPr>
        <p:txBody>
          <a:bodyPr anchor="ctr">
            <a:normAutofit lnSpcReduction="10000"/>
          </a:bodyPr>
          <a:lstStyle/>
          <a:p>
            <a:r>
              <a:rPr lang="en-US" sz="1600" b="1" i="0" dirty="0">
                <a:solidFill>
                  <a:srgbClr val="0D0D0D"/>
                </a:solidFill>
                <a:effectLst/>
                <a:highlight>
                  <a:srgbClr val="FFFFFF"/>
                </a:highlight>
                <a:latin typeface="Söhne"/>
              </a:rPr>
              <a:t>Advanced Path Planning and AI Integration:</a:t>
            </a:r>
            <a:r>
              <a:rPr lang="en-US" sz="1600" b="0" i="0" dirty="0">
                <a:solidFill>
                  <a:srgbClr val="0D0D0D"/>
                </a:solidFill>
                <a:effectLst/>
                <a:highlight>
                  <a:srgbClr val="FFFFFF"/>
                </a:highlight>
                <a:latin typeface="Söhne"/>
              </a:rPr>
              <a:t> The advancement of path planning algorithms, integrated with artificial intelligence, is pivotal for enhancing autonomous vehicles' safety, efficiency, and adaptability by computing optimal routes in real-time based on traffic, road conditions, and energy use.</a:t>
            </a:r>
          </a:p>
          <a:p>
            <a:r>
              <a:rPr lang="en-US" sz="1600" b="1" i="0" dirty="0">
                <a:solidFill>
                  <a:srgbClr val="0D0D0D"/>
                </a:solidFill>
                <a:effectLst/>
                <a:highlight>
                  <a:srgbClr val="FFFFFF"/>
                </a:highlight>
                <a:latin typeface="Söhne"/>
              </a:rPr>
              <a:t>Wide-Ranging Applications and Benefits:</a:t>
            </a:r>
            <a:r>
              <a:rPr lang="en-US" sz="1600" b="0" i="0" dirty="0">
                <a:solidFill>
                  <a:srgbClr val="0D0D0D"/>
                </a:solidFill>
                <a:effectLst/>
                <a:highlight>
                  <a:srgbClr val="FFFFFF"/>
                </a:highlight>
                <a:latin typeface="Söhne"/>
              </a:rPr>
              <a:t> Autonomous vehicles offer significant advantages across multiple sectors, including reduced operational costs for ride-sharing services, increased efficiency in freight and logistics, and improvements in safety and productivity in sectors like agriculture, emergency response, and military operations.</a:t>
            </a:r>
          </a:p>
          <a:p>
            <a:r>
              <a:rPr lang="en-US" sz="1600" b="1" i="0" dirty="0">
                <a:solidFill>
                  <a:srgbClr val="0D0D0D"/>
                </a:solidFill>
                <a:effectLst/>
                <a:highlight>
                  <a:srgbClr val="FFFFFF"/>
                </a:highlight>
                <a:latin typeface="Söhne"/>
              </a:rPr>
              <a:t>Integration into Smart Cities and Ethical Considerations:</a:t>
            </a:r>
            <a:r>
              <a:rPr lang="en-US" sz="1600" b="0" i="0" dirty="0">
                <a:solidFill>
                  <a:srgbClr val="0D0D0D"/>
                </a:solidFill>
                <a:effectLst/>
                <a:highlight>
                  <a:srgbClr val="FFFFFF"/>
                </a:highlight>
                <a:latin typeface="Söhne"/>
              </a:rPr>
              <a:t> Seamless integration of autonomous vehicles into smart city ecosystems requires a robust infrastructure for real-time data exchange, emphasizing traffic optimization, emissions reduction, and urban livability. Concurrently, addressing ethical concerns such as privacy, employment impact, and equitable access to AV technology is essential for societal acceptance and sustainability.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Previous and Related Work</a:t>
            </a:r>
          </a:p>
        </p:txBody>
      </p:sp>
      <p:sp>
        <p:nvSpPr>
          <p:cNvPr id="3" name="Content Placeholder 2"/>
          <p:cNvSpPr>
            <a:spLocks noGrp="1"/>
          </p:cNvSpPr>
          <p:nvPr>
            <p:ph idx="1"/>
          </p:nvPr>
        </p:nvSpPr>
        <p:spPr>
          <a:xfrm>
            <a:off x="1028699" y="2318197"/>
            <a:ext cx="7293023" cy="3683358"/>
          </a:xfrm>
        </p:spPr>
        <p:txBody>
          <a:bodyPr anchor="ctr">
            <a:normAutofit/>
          </a:bodyPr>
          <a:lstStyle/>
          <a:p>
            <a:r>
              <a:rPr lang="en-US" sz="1600" b="1" i="0" dirty="0">
                <a:solidFill>
                  <a:srgbClr val="0D0D0D"/>
                </a:solidFill>
                <a:effectLst/>
                <a:highlight>
                  <a:srgbClr val="FFFFFF"/>
                </a:highlight>
                <a:latin typeface="Söhne"/>
              </a:rPr>
              <a:t>Enhanced ACO Algorithm:</a:t>
            </a:r>
            <a:r>
              <a:rPr lang="en-US" sz="1600" b="0" i="0" dirty="0">
                <a:solidFill>
                  <a:srgbClr val="0D0D0D"/>
                </a:solidFill>
                <a:effectLst/>
                <a:highlight>
                  <a:srgbClr val="FFFFFF"/>
                </a:highlight>
                <a:latin typeface="Söhne"/>
              </a:rPr>
              <a:t> The paper enhances the traditional Ant Colony Optimization (ACO) algorithm by improving pheromone deposition strategies and incorporating adaptive feedback loops, resulting in better convergence rates and adaptability to dynamic environments.</a:t>
            </a:r>
          </a:p>
          <a:p>
            <a:r>
              <a:rPr lang="en-US" sz="1600" b="1" i="0" dirty="0">
                <a:solidFill>
                  <a:srgbClr val="0D0D0D"/>
                </a:solidFill>
                <a:effectLst/>
                <a:highlight>
                  <a:srgbClr val="FFFFFF"/>
                </a:highlight>
                <a:latin typeface="Söhne"/>
              </a:rPr>
              <a:t>Incorporation of Random Perturbation:</a:t>
            </a:r>
            <a:r>
              <a:rPr lang="en-US" sz="1600" b="0" i="0" dirty="0">
                <a:solidFill>
                  <a:srgbClr val="0D0D0D"/>
                </a:solidFill>
                <a:effectLst/>
                <a:highlight>
                  <a:srgbClr val="FFFFFF"/>
                </a:highlight>
                <a:latin typeface="Söhne"/>
              </a:rPr>
              <a:t> By introducing variability through random perturbation techniques, the algorithm effectively avoids local minima and explores a wider solution space, optimizing the balance between exploration and exploitation.</a:t>
            </a:r>
          </a:p>
          <a:p>
            <a:r>
              <a:rPr lang="en-US" sz="1600" b="1" i="0" dirty="0">
                <a:solidFill>
                  <a:srgbClr val="0D0D0D"/>
                </a:solidFill>
                <a:effectLst/>
                <a:highlight>
                  <a:srgbClr val="FFFFFF"/>
                </a:highlight>
                <a:latin typeface="Söhne"/>
              </a:rPr>
              <a:t>Comprehensive Experimental Validation:</a:t>
            </a:r>
            <a:r>
              <a:rPr lang="en-US" sz="1600" b="0" i="0" dirty="0">
                <a:solidFill>
                  <a:srgbClr val="0D0D0D"/>
                </a:solidFill>
                <a:effectLst/>
                <a:highlight>
                  <a:srgbClr val="FFFFFF"/>
                </a:highlight>
                <a:latin typeface="Söhne"/>
              </a:rPr>
              <a:t> The optimized algorithm demonstrates superior performance in path efficiency, computational efficiency, and adaptability to environmental changes through rigorous comparisons with established benchmarks.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Basic Ant Colony Algorithm</a:t>
            </a:r>
          </a:p>
        </p:txBody>
      </p:sp>
      <p:sp>
        <p:nvSpPr>
          <p:cNvPr id="3" name="Content Placeholder 2"/>
          <p:cNvSpPr>
            <a:spLocks noGrp="1"/>
          </p:cNvSpPr>
          <p:nvPr>
            <p:ph idx="1"/>
          </p:nvPr>
        </p:nvSpPr>
        <p:spPr>
          <a:xfrm>
            <a:off x="322212" y="785146"/>
            <a:ext cx="7293023" cy="3683358"/>
          </a:xfrm>
        </p:spPr>
        <p:txBody>
          <a:bodyPr anchor="ctr">
            <a:normAutofit/>
          </a:bodyPr>
          <a:lstStyle/>
          <a:p>
            <a:r>
              <a:rPr lang="en-US" sz="1700" dirty="0"/>
              <a:t>The ACO algorithm, inspired by ant foraging behavior, uses pheromone trails for path optimization. This section explains traditional ACO mechanisms, including pheromone deposition and probabilistic path selection.</a:t>
            </a:r>
          </a:p>
        </p:txBody>
      </p:sp>
      <p:pic>
        <p:nvPicPr>
          <p:cNvPr id="5" name="Picture 4">
            <a:extLst>
              <a:ext uri="{FF2B5EF4-FFF2-40B4-BE49-F238E27FC236}">
                <a16:creationId xmlns:a16="http://schemas.microsoft.com/office/drawing/2014/main" id="{01002EFA-B63D-0135-6FCE-BB7F72B35390}"/>
              </a:ext>
            </a:extLst>
          </p:cNvPr>
          <p:cNvPicPr>
            <a:picLocks noChangeAspect="1"/>
          </p:cNvPicPr>
          <p:nvPr/>
        </p:nvPicPr>
        <p:blipFill>
          <a:blip r:embed="rId2"/>
          <a:stretch>
            <a:fillRect/>
          </a:stretch>
        </p:blipFill>
        <p:spPr>
          <a:xfrm>
            <a:off x="1028699" y="3248592"/>
            <a:ext cx="6921856" cy="33148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Basic Ant Colony Algorithm</a:t>
            </a:r>
          </a:p>
        </p:txBody>
      </p:sp>
      <p:pic>
        <p:nvPicPr>
          <p:cNvPr id="7" name="Picture 6">
            <a:extLst>
              <a:ext uri="{FF2B5EF4-FFF2-40B4-BE49-F238E27FC236}">
                <a16:creationId xmlns:a16="http://schemas.microsoft.com/office/drawing/2014/main" id="{A9EF0A48-8F3D-013B-9A0C-0AF77FD5AA44}"/>
              </a:ext>
            </a:extLst>
          </p:cNvPr>
          <p:cNvPicPr>
            <a:picLocks noChangeAspect="1"/>
          </p:cNvPicPr>
          <p:nvPr/>
        </p:nvPicPr>
        <p:blipFill>
          <a:blip r:embed="rId2"/>
          <a:stretch>
            <a:fillRect/>
          </a:stretch>
        </p:blipFill>
        <p:spPr>
          <a:xfrm>
            <a:off x="372827" y="898077"/>
            <a:ext cx="8176298" cy="4889979"/>
          </a:xfrm>
          <a:prstGeom prst="rect">
            <a:avLst/>
          </a:prstGeom>
        </p:spPr>
      </p:pic>
    </p:spTree>
    <p:extLst>
      <p:ext uri="{BB962C8B-B14F-4D97-AF65-F5344CB8AC3E}">
        <p14:creationId xmlns:p14="http://schemas.microsoft.com/office/powerpoint/2010/main" val="2570049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Basic Ant Colony Algorithm</a:t>
            </a:r>
          </a:p>
        </p:txBody>
      </p:sp>
      <p:pic>
        <p:nvPicPr>
          <p:cNvPr id="4" name="Picture 3">
            <a:extLst>
              <a:ext uri="{FF2B5EF4-FFF2-40B4-BE49-F238E27FC236}">
                <a16:creationId xmlns:a16="http://schemas.microsoft.com/office/drawing/2014/main" id="{37BD36A8-FAE8-4CD1-F48E-361FD5EDF097}"/>
              </a:ext>
            </a:extLst>
          </p:cNvPr>
          <p:cNvPicPr>
            <a:picLocks noChangeAspect="1"/>
          </p:cNvPicPr>
          <p:nvPr/>
        </p:nvPicPr>
        <p:blipFill>
          <a:blip r:embed="rId2"/>
          <a:stretch>
            <a:fillRect/>
          </a:stretch>
        </p:blipFill>
        <p:spPr>
          <a:xfrm>
            <a:off x="79660" y="1328207"/>
            <a:ext cx="8720843" cy="3478492"/>
          </a:xfrm>
          <a:prstGeom prst="rect">
            <a:avLst/>
          </a:prstGeom>
        </p:spPr>
      </p:pic>
    </p:spTree>
    <p:extLst>
      <p:ext uri="{BB962C8B-B14F-4D97-AF65-F5344CB8AC3E}">
        <p14:creationId xmlns:p14="http://schemas.microsoft.com/office/powerpoint/2010/main" val="2231005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Basic Ant Colony Algorithm</a:t>
            </a:r>
          </a:p>
        </p:txBody>
      </p:sp>
      <p:sp>
        <p:nvSpPr>
          <p:cNvPr id="5" name="TextBox 4">
            <a:extLst>
              <a:ext uri="{FF2B5EF4-FFF2-40B4-BE49-F238E27FC236}">
                <a16:creationId xmlns:a16="http://schemas.microsoft.com/office/drawing/2014/main" id="{1711F659-2565-F689-071A-37C4B9CC6611}"/>
              </a:ext>
            </a:extLst>
          </p:cNvPr>
          <p:cNvSpPr txBox="1"/>
          <p:nvPr/>
        </p:nvSpPr>
        <p:spPr>
          <a:xfrm>
            <a:off x="553824" y="474345"/>
            <a:ext cx="8036351" cy="5909310"/>
          </a:xfrm>
          <a:prstGeom prst="rect">
            <a:avLst/>
          </a:prstGeom>
          <a:noFill/>
        </p:spPr>
        <p:txBody>
          <a:bodyPr wrap="square">
            <a:spAutoFit/>
          </a:bodyPr>
          <a:lstStyle/>
          <a:p>
            <a:pPr algn="l">
              <a:buFont typeface="+mj-lt"/>
              <a:buAutoNum type="arabicPeriod"/>
            </a:pPr>
            <a:r>
              <a:rPr lang="en-US" b="1" i="0" dirty="0">
                <a:solidFill>
                  <a:srgbClr val="0D0D0D"/>
                </a:solidFill>
                <a:effectLst/>
                <a:highlight>
                  <a:srgbClr val="FFFFFF"/>
                </a:highlight>
                <a:latin typeface="Söhne"/>
              </a:rPr>
              <a:t>Initialization Phase:</a:t>
            </a:r>
            <a:r>
              <a:rPr lang="en-US" b="0" i="0" dirty="0">
                <a:solidFill>
                  <a:srgbClr val="0D0D0D"/>
                </a:solidFill>
                <a:effectLst/>
                <a:highlight>
                  <a:srgbClr val="FFFFFF"/>
                </a:highlight>
                <a:latin typeface="Söhne"/>
              </a:rPr>
              <a:t> Key parameters such as the number of ants, the importance of pheromones (α) versus heuristic information (β), the pheromone evaporation rate (ρ), and initial pheromone levels (Q) are set. This phase establishes the foundational settings for the algorithm's operation, balancing exploration and exploitation in the search space.</a:t>
            </a:r>
          </a:p>
          <a:p>
            <a:pPr algn="l">
              <a:buFont typeface="+mj-lt"/>
              <a:buAutoNum type="arabicPeriod"/>
            </a:pPr>
            <a:r>
              <a:rPr lang="en-US" b="1" i="0" dirty="0">
                <a:solidFill>
                  <a:srgbClr val="0D0D0D"/>
                </a:solidFill>
                <a:effectLst/>
                <a:highlight>
                  <a:srgbClr val="FFFFFF"/>
                </a:highlight>
                <a:latin typeface="Söhne"/>
              </a:rPr>
              <a:t>Solution Construction Phase:</a:t>
            </a:r>
            <a:r>
              <a:rPr lang="en-US" b="0" i="0" dirty="0">
                <a:solidFill>
                  <a:srgbClr val="0D0D0D"/>
                </a:solidFill>
                <a:effectLst/>
                <a:highlight>
                  <a:srgbClr val="FFFFFF"/>
                </a:highlight>
                <a:latin typeface="Söhne"/>
              </a:rPr>
              <a:t> Ants traverse the graph, making probabilistic decisions influenced by pheromone trails and heuristic cues. This process allows for a blend of random exploration and informed decision-making, enabling ants to iteratively construct solutions.</a:t>
            </a:r>
          </a:p>
          <a:p>
            <a:pPr algn="l">
              <a:buFont typeface="+mj-lt"/>
              <a:buAutoNum type="arabicPeriod"/>
            </a:pPr>
            <a:r>
              <a:rPr lang="en-US" b="1" i="0" dirty="0">
                <a:solidFill>
                  <a:srgbClr val="0D0D0D"/>
                </a:solidFill>
                <a:effectLst/>
                <a:highlight>
                  <a:srgbClr val="FFFFFF"/>
                </a:highlight>
                <a:latin typeface="Söhne"/>
              </a:rPr>
              <a:t>Pheromone Update Phase:</a:t>
            </a:r>
            <a:r>
              <a:rPr lang="en-US" b="0" i="0" dirty="0">
                <a:solidFill>
                  <a:srgbClr val="0D0D0D"/>
                </a:solidFill>
                <a:effectLst/>
                <a:highlight>
                  <a:srgbClr val="FFFFFF"/>
                </a:highlight>
                <a:latin typeface="Söhne"/>
              </a:rPr>
              <a:t> After completing their tours, ants deposit pheromones on their paths, with the amount inversely proportional to the route's length or cost. This reinforces successful routes, guiding future ants towards these paths.</a:t>
            </a:r>
          </a:p>
          <a:p>
            <a:pPr algn="l">
              <a:buFont typeface="+mj-lt"/>
              <a:buAutoNum type="arabicPeriod"/>
            </a:pPr>
            <a:r>
              <a:rPr lang="en-US" b="1" i="0" dirty="0">
                <a:solidFill>
                  <a:srgbClr val="0D0D0D"/>
                </a:solidFill>
                <a:effectLst/>
                <a:highlight>
                  <a:srgbClr val="FFFFFF"/>
                </a:highlight>
                <a:latin typeface="Söhne"/>
              </a:rPr>
              <a:t>Pheromone Evaporation Phase:</a:t>
            </a:r>
            <a:r>
              <a:rPr lang="en-US" b="0" i="0" dirty="0">
                <a:solidFill>
                  <a:srgbClr val="0D0D0D"/>
                </a:solidFill>
                <a:effectLst/>
                <a:highlight>
                  <a:srgbClr val="FFFFFF"/>
                </a:highlight>
                <a:latin typeface="Söhne"/>
              </a:rPr>
              <a:t> Pheromone evaporation reduces trail intensity over time, preventing premature convergence on suboptimal solutions and encouraging ongoing exploration of the search space.</a:t>
            </a:r>
          </a:p>
          <a:p>
            <a:pPr algn="l">
              <a:buFont typeface="+mj-lt"/>
              <a:buAutoNum type="arabicPeriod"/>
            </a:pPr>
            <a:r>
              <a:rPr lang="en-US" b="1" i="0" dirty="0">
                <a:solidFill>
                  <a:srgbClr val="0D0D0D"/>
                </a:solidFill>
                <a:effectLst/>
                <a:highlight>
                  <a:srgbClr val="FFFFFF"/>
                </a:highlight>
                <a:latin typeface="Söhne"/>
              </a:rPr>
              <a:t>Iterative Process Phase:</a:t>
            </a:r>
            <a:r>
              <a:rPr lang="en-US" b="0" i="0" dirty="0">
                <a:solidFill>
                  <a:srgbClr val="0D0D0D"/>
                </a:solidFill>
                <a:effectLst/>
                <a:highlight>
                  <a:srgbClr val="FFFFFF"/>
                </a:highlight>
                <a:latin typeface="Söhne"/>
              </a:rPr>
              <a:t> The ACO algorithm iteratively refines its search through cycles of solution construction, pheromone updating, and evaporation, gradually converging on efficient solutions.</a:t>
            </a:r>
          </a:p>
          <a:p>
            <a:pPr algn="l">
              <a:buFont typeface="+mj-lt"/>
              <a:buAutoNum type="arabicPeriod"/>
            </a:pPr>
            <a:r>
              <a:rPr lang="en-US" b="1" i="0" dirty="0">
                <a:solidFill>
                  <a:srgbClr val="0D0D0D"/>
                </a:solidFill>
                <a:effectLst/>
                <a:highlight>
                  <a:srgbClr val="FFFFFF"/>
                </a:highlight>
                <a:latin typeface="Söhne"/>
              </a:rPr>
              <a:t>Daemon Actions Phase:</a:t>
            </a:r>
            <a:r>
              <a:rPr lang="en-US" b="0" i="0" dirty="0">
                <a:solidFill>
                  <a:srgbClr val="0D0D0D"/>
                </a:solidFill>
                <a:effectLst/>
                <a:highlight>
                  <a:srgbClr val="FFFFFF"/>
                </a:highlight>
                <a:latin typeface="Söhne"/>
              </a:rPr>
              <a:t> Optional centralized actions can adjust pheromone levels or apply local optimizations based on global knowledge, further refining the solutions discovered by the ants</a:t>
            </a:r>
          </a:p>
        </p:txBody>
      </p:sp>
    </p:spTree>
    <p:extLst>
      <p:ext uri="{BB962C8B-B14F-4D97-AF65-F5344CB8AC3E}">
        <p14:creationId xmlns:p14="http://schemas.microsoft.com/office/powerpoint/2010/main" val="713139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Improvements on Ant Colony Algorithm</a:t>
            </a:r>
          </a:p>
        </p:txBody>
      </p:sp>
      <p:pic>
        <p:nvPicPr>
          <p:cNvPr id="7" name="Picture 6">
            <a:extLst>
              <a:ext uri="{FF2B5EF4-FFF2-40B4-BE49-F238E27FC236}">
                <a16:creationId xmlns:a16="http://schemas.microsoft.com/office/drawing/2014/main" id="{DA243CD0-B82E-8795-FEA2-9C6AD0C8CF83}"/>
              </a:ext>
            </a:extLst>
          </p:cNvPr>
          <p:cNvPicPr>
            <a:picLocks noChangeAspect="1"/>
          </p:cNvPicPr>
          <p:nvPr/>
        </p:nvPicPr>
        <p:blipFill>
          <a:blip r:embed="rId2"/>
          <a:stretch>
            <a:fillRect/>
          </a:stretch>
        </p:blipFill>
        <p:spPr>
          <a:xfrm>
            <a:off x="706836" y="1730333"/>
            <a:ext cx="7424573" cy="48452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200" kern="1200">
                <a:solidFill>
                  <a:srgbClr val="FFFFFF"/>
                </a:solidFill>
                <a:latin typeface="+mj-lt"/>
                <a:ea typeface="+mj-ea"/>
                <a:cs typeface="+mj-cs"/>
              </a:rPr>
              <a:t>Advanced Dynamic Pheromone Update Strategy</a:t>
            </a:r>
          </a:p>
        </p:txBody>
      </p:sp>
      <p:pic>
        <p:nvPicPr>
          <p:cNvPr id="7" name="Content Placeholder 6">
            <a:extLst>
              <a:ext uri="{FF2B5EF4-FFF2-40B4-BE49-F238E27FC236}">
                <a16:creationId xmlns:a16="http://schemas.microsoft.com/office/drawing/2014/main" id="{CDBA12C0-3EF4-7B76-8FF4-3155581C7E7D}"/>
              </a:ext>
            </a:extLst>
          </p:cNvPr>
          <p:cNvPicPr>
            <a:picLocks noGrp="1" noChangeAspect="1"/>
          </p:cNvPicPr>
          <p:nvPr>
            <p:ph idx="1"/>
          </p:nvPr>
        </p:nvPicPr>
        <p:blipFill>
          <a:blip r:embed="rId2"/>
          <a:stretch>
            <a:fillRect/>
          </a:stretch>
        </p:blipFill>
        <p:spPr>
          <a:xfrm>
            <a:off x="324168" y="2556959"/>
            <a:ext cx="8495662" cy="32708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Experimental Setup</a:t>
            </a:r>
          </a:p>
        </p:txBody>
      </p:sp>
      <p:sp>
        <p:nvSpPr>
          <p:cNvPr id="3" name="Content Placeholder 2"/>
          <p:cNvSpPr>
            <a:spLocks noGrp="1"/>
          </p:cNvSpPr>
          <p:nvPr>
            <p:ph idx="1"/>
          </p:nvPr>
        </p:nvSpPr>
        <p:spPr>
          <a:xfrm>
            <a:off x="1028699" y="2318197"/>
            <a:ext cx="7293023" cy="3683358"/>
          </a:xfrm>
        </p:spPr>
        <p:txBody>
          <a:bodyPr anchor="ctr">
            <a:normAutofit/>
          </a:bodyPr>
          <a:lstStyle/>
          <a:p>
            <a:r>
              <a:rPr lang="en-US" sz="1700"/>
              <a:t>We detail our computational setup, simulation model, and algorithm parameters, providing a foundation for comparative analysis against other optimization techniques.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pPr>
            <a:r>
              <a:rPr lang="en-US" sz="3200">
                <a:solidFill>
                  <a:srgbClr val="FFFFFF"/>
                </a:solidFill>
              </a:rPr>
              <a:t>Comparison Method and Evaluation Metrics</a:t>
            </a:r>
          </a:p>
        </p:txBody>
      </p:sp>
      <p:sp>
        <p:nvSpPr>
          <p:cNvPr id="3" name="Content Placeholder 2"/>
          <p:cNvSpPr>
            <a:spLocks noGrp="1"/>
          </p:cNvSpPr>
          <p:nvPr>
            <p:ph idx="1"/>
          </p:nvPr>
        </p:nvSpPr>
        <p:spPr>
          <a:xfrm>
            <a:off x="1028699" y="2318197"/>
            <a:ext cx="7293023" cy="3683358"/>
          </a:xfrm>
        </p:spPr>
        <p:txBody>
          <a:bodyPr anchor="ctr">
            <a:normAutofit/>
          </a:bodyPr>
          <a:lstStyle/>
          <a:p>
            <a:r>
              <a:rPr lang="en-US" sz="1700"/>
              <a:t>Our comparative analysis evaluates algorithm efficiency and adaptability across various urban layouts, highlighting the improved ACO algorithm's superior performance.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4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82344"/>
            <a:ext cx="9143997"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5282344"/>
            <a:ext cx="6086475"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5282344"/>
            <a:ext cx="9143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5" y="5490971"/>
            <a:ext cx="5221554"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Visualization</a:t>
            </a:r>
          </a:p>
        </p:txBody>
      </p:sp>
      <p:sp>
        <p:nvSpPr>
          <p:cNvPr id="3" name="TextBox 2"/>
          <p:cNvSpPr txBox="1"/>
          <p:nvPr/>
        </p:nvSpPr>
        <p:spPr>
          <a:xfrm>
            <a:off x="6342391" y="5633765"/>
            <a:ext cx="2556416" cy="873612"/>
          </a:xfrm>
          <a:prstGeom prst="rect">
            <a:avLst/>
          </a:prstGeom>
        </p:spPr>
        <p:txBody>
          <a:bodyPr vert="horz" lIns="91440" tIns="45720" rIns="91440" bIns="45720" rtlCol="0" anchor="ctr">
            <a:normAutofit/>
          </a:bodyPr>
          <a:lstStyle/>
          <a:p>
            <a:pPr defTabSz="914400">
              <a:lnSpc>
                <a:spcPct val="90000"/>
              </a:lnSpc>
              <a:spcBef>
                <a:spcPts val="1000"/>
              </a:spcBef>
              <a:spcAft>
                <a:spcPts val="600"/>
              </a:spcAft>
            </a:pPr>
            <a:r>
              <a:rPr lang="en-US" sz="1700" kern="1200">
                <a:solidFill>
                  <a:srgbClr val="FFFFFF"/>
                </a:solidFill>
                <a:latin typeface="+mn-lt"/>
                <a:ea typeface="+mn-ea"/>
                <a:cs typeface="+mn-cs"/>
              </a:rPr>
              <a:t>Graphical comparison of algorithm performance</a:t>
            </a:r>
          </a:p>
        </p:txBody>
      </p:sp>
      <p:pic>
        <p:nvPicPr>
          <p:cNvPr id="5" name="Picture 4" descr="A graph with different colored lines&#10;&#10;Description automatically generated">
            <a:extLst>
              <a:ext uri="{FF2B5EF4-FFF2-40B4-BE49-F238E27FC236}">
                <a16:creationId xmlns:a16="http://schemas.microsoft.com/office/drawing/2014/main" id="{01E86D28-029A-C383-DE08-B82AACA8174E}"/>
              </a:ext>
            </a:extLst>
          </p:cNvPr>
          <p:cNvPicPr>
            <a:picLocks noChangeAspect="1"/>
          </p:cNvPicPr>
          <p:nvPr/>
        </p:nvPicPr>
        <p:blipFill>
          <a:blip r:embed="rId2"/>
          <a:stretch>
            <a:fillRect/>
          </a:stretch>
        </p:blipFill>
        <p:spPr>
          <a:xfrm>
            <a:off x="498447" y="390832"/>
            <a:ext cx="8216570" cy="451911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Conclusion and Future Work</a:t>
            </a:r>
          </a:p>
        </p:txBody>
      </p:sp>
      <p:sp>
        <p:nvSpPr>
          <p:cNvPr id="3" name="Content Placeholder 2"/>
          <p:cNvSpPr>
            <a:spLocks noGrp="1"/>
          </p:cNvSpPr>
          <p:nvPr>
            <p:ph idx="1"/>
          </p:nvPr>
        </p:nvSpPr>
        <p:spPr>
          <a:xfrm>
            <a:off x="1028699" y="2318197"/>
            <a:ext cx="7293023" cy="3683358"/>
          </a:xfrm>
        </p:spPr>
        <p:txBody>
          <a:bodyPr anchor="ctr">
            <a:normAutofit fontScale="77500" lnSpcReduction="20000"/>
          </a:bodyPr>
          <a:lstStyle/>
          <a:p>
            <a:endParaRPr lang="en-US" sz="1700" dirty="0"/>
          </a:p>
          <a:p>
            <a:r>
              <a:rPr lang="en-US" sz="1700" b="1" dirty="0"/>
              <a:t>Innovative Enhancements in ACO Algorithm:</a:t>
            </a:r>
            <a:r>
              <a:rPr lang="en-US" sz="1700" dirty="0"/>
              <a:t> The development of an enhanced Ant Colony Optimization (ACO) algorithm introduces significant advancements in path planning for autonomous vehicles, incorporating a local modification strategy and a dynamic pheromone update mechanism. These innovations enable the algorithm to effectively navigate complex environments, escape local minima traps, and adapt to dynamic changes, leading to superior route optimization and efficiency in various urban layouts.</a:t>
            </a:r>
          </a:p>
          <a:p>
            <a:endParaRPr lang="en-US" sz="1700" dirty="0"/>
          </a:p>
          <a:p>
            <a:r>
              <a:rPr lang="en-US" sz="1700" b="1" dirty="0"/>
              <a:t>Superior Performance and Adaptability</a:t>
            </a:r>
            <a:r>
              <a:rPr lang="en-US" sz="1700" dirty="0"/>
              <a:t>: Experimental comparisons with other optimization techniques like Particle Swarm Optimization (PSO), Simulated Annealing (SA), and Genetic Algorithms (GA) demonstrate the enhanced ACO algorithm's superior performance. It outperforms traditional models in path efficiency, computational resource management, and adaptability, especially in densely populated or varied terrain environments, showcasing its potential for optimizing autonomous vehicle navigation.</a:t>
            </a:r>
          </a:p>
          <a:p>
            <a:endParaRPr lang="en-US" sz="1700" dirty="0"/>
          </a:p>
          <a:p>
            <a:r>
              <a:rPr lang="en-US" sz="1700" b="1" dirty="0"/>
              <a:t>Integration and Ethical Considerations for Deployment:</a:t>
            </a:r>
            <a:r>
              <a:rPr lang="en-US" sz="1700" dirty="0"/>
              <a:t> The advanced ACO algorithm's integration into autonomous vehicle systems highlights the need for further research, stakeholder collaboration, and ethical considerations. Addressing data privacy, socio-economic impacts, and ensuring equitable benefits are crucial steps towards the responsible deployment of autonomous vehicles within smart city ecosystems, aiming to enhance urban mobility and sustainability.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References</a:t>
            </a:r>
          </a:p>
        </p:txBody>
      </p:sp>
      <p:sp>
        <p:nvSpPr>
          <p:cNvPr id="3" name="Content Placeholder 2"/>
          <p:cNvSpPr>
            <a:spLocks noGrp="1"/>
          </p:cNvSpPr>
          <p:nvPr>
            <p:ph idx="1"/>
          </p:nvPr>
        </p:nvSpPr>
        <p:spPr>
          <a:xfrm>
            <a:off x="1028699" y="2318197"/>
            <a:ext cx="7293023" cy="3683358"/>
          </a:xfrm>
        </p:spPr>
        <p:txBody>
          <a:bodyPr anchor="ctr">
            <a:normAutofit fontScale="47500" lnSpcReduction="20000"/>
          </a:bodyPr>
          <a:lstStyle/>
          <a:p>
            <a:pPr>
              <a:lnSpc>
                <a:spcPct val="115000"/>
              </a:lnSpc>
              <a:spcAft>
                <a:spcPts val="80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Doe, J., &amp; Smith, A. (2022). Privacy and Autonomous Vehicles: Navigating New Roads in Data Protection. Journal of Information Technology &amp; Privacy Law, 39(4), 457-475.</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Johnson, M., &amp;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Verlinden</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 (2021). Ethical considerations for autonomous vehicle integration in public transportation. Transportation Research Part A: Policy and Practice, 145, 75-85. https://doi.org/10.1016/j.tra.2021.02.013</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Smith, B. (2022). Integrating autonomous vehicles with intelligent transportation systems for smart city development. Journal of Smart Cities and Society, 1(1), 112-127. https://doi.org/10.1016/j.jscs.2022.01.007</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Thompson, G., &amp; Bank, L. (2023). Urban Planning in the Age of Autonomous Vehicles: Challenges and Opportunities for Creating Smarter, Greener Cities. Urban Planning International, 38(2), 110-125.</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Williams, R., &amp; Patel, D. (2022). The Socio-Economic Impacts of Autonomous Vehicles and the Need for Inclusive Policies. Technology and Society Magazine, 41(1), 34-41.</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Anderson, T., Brown, D., &amp; Patel, S. (2021). Challenges in Robotic Path Planning in Dynamic Environments. </a:t>
            </a:r>
            <a:r>
              <a:rPr lang="en-US" sz="1800" i="1" kern="100" dirty="0">
                <a:effectLst/>
                <a:latin typeface="Times New Roman" panose="02020603050405020304" pitchFamily="18" charset="0"/>
                <a:ea typeface="DengXian" panose="02010600030101010101" pitchFamily="2" charset="-122"/>
                <a:cs typeface="Times New Roman" panose="02020603050405020304" pitchFamily="18" charset="0"/>
              </a:rPr>
              <a:t>Journal of Intelligent &amp; Robotic Systems</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99(3-4), 555-569. https://doi.org/10.1007/s10846-021-01345-z</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Brown, L., &amp; Patel, D. (2022). Overcoming Obstacles in Autonomous Navigation: A Review of Recent Developments. </a:t>
            </a:r>
            <a:r>
              <a:rPr lang="en-US" sz="1800" i="1" kern="100" dirty="0">
                <a:effectLst/>
                <a:latin typeface="Times New Roman" panose="02020603050405020304" pitchFamily="18" charset="0"/>
                <a:ea typeface="DengXian" panose="02010600030101010101" pitchFamily="2" charset="-122"/>
                <a:cs typeface="Times New Roman" panose="02020603050405020304" pitchFamily="18" charset="0"/>
              </a:rPr>
              <a:t>Robotics and Autonomous Systems</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140, 103755. https://doi.org/10.1016/j.robot.2021.103755</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Li, H., &amp; Zheng, Y. (2023). Enhancing Ant Colony Optimization for Dynamic Path Planning. </a:t>
            </a:r>
            <a:r>
              <a:rPr lang="en-US" sz="1800" i="1" kern="100" dirty="0">
                <a:effectLst/>
                <a:latin typeface="Times New Roman" panose="02020603050405020304" pitchFamily="18" charset="0"/>
                <a:ea typeface="DengXian" panose="02010600030101010101" pitchFamily="2" charset="-122"/>
                <a:cs typeface="Times New Roman" panose="02020603050405020304" pitchFamily="18" charset="0"/>
              </a:rPr>
              <a:t>Artificial Intelligence Review</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56(2), 1231-1256. https://doi.org/10.1007/s10462-022-10123-4</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Nguyen, H., &amp; Kim, J. (2021). Random Perturbation Methods for Improving the Exploration Capability of Ant Colony Optimization. </a:t>
            </a:r>
            <a:r>
              <a:rPr lang="en-US" sz="1800" i="1" kern="100" dirty="0">
                <a:effectLst/>
                <a:latin typeface="Times New Roman" panose="02020603050405020304" pitchFamily="18" charset="0"/>
                <a:ea typeface="DengXian" panose="02010600030101010101" pitchFamily="2" charset="-122"/>
                <a:cs typeface="Times New Roman" panose="02020603050405020304" pitchFamily="18" charset="0"/>
              </a:rPr>
              <a:t>IEEE Transactions on Evolutionary Computation</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25(2), 252-264. https://doi.org/10.1109/TEVC.2020.2991459</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112</TotalTime>
  <Words>1212</Words>
  <Application>Microsoft Office PowerPoint</Application>
  <PresentationFormat>On-screen Show (4:3)</PresentationFormat>
  <Paragraphs>47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Söhne</vt:lpstr>
      <vt:lpstr>Aptos</vt:lpstr>
      <vt:lpstr>Arial</vt:lpstr>
      <vt:lpstr>Calibri</vt:lpstr>
      <vt:lpstr>Times New Roman</vt:lpstr>
      <vt:lpstr>Office Theme</vt:lpstr>
      <vt:lpstr>Enabling Robust Path Planning for Autonomous Vehicles Using Improved Ant Colony Algorithm</vt:lpstr>
      <vt:lpstr>Introduction</vt:lpstr>
      <vt:lpstr>Previous and Related Work</vt:lpstr>
      <vt:lpstr>Basic Ant Colony Algorithm</vt:lpstr>
      <vt:lpstr>Basic Ant Colony Algorithm</vt:lpstr>
      <vt:lpstr>Basic Ant Colony Algorithm</vt:lpstr>
      <vt:lpstr>Basic Ant Colony Algorithm</vt:lpstr>
      <vt:lpstr>Improvements on Ant Colony Algorithm</vt:lpstr>
      <vt:lpstr>Advanced Dynamic Pheromone Update Strategy</vt:lpstr>
      <vt:lpstr>Experimental Setup</vt:lpstr>
      <vt:lpstr>Comparison Method and Evaluation Metrics</vt:lpstr>
      <vt:lpstr>Visualization</vt:lpstr>
      <vt:lpstr>Conclusion and Future Work</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Enabling Robust Path Planning for Autonomous Vehicles Using Improved Ant Colony Algorithm</dc:title>
  <dc:subject/>
  <dc:creator/>
  <cp:keywords/>
  <dc:description>generated using python-pptx</dc:description>
  <cp:lastModifiedBy>Yuqun Zhou</cp:lastModifiedBy>
  <cp:revision>12</cp:revision>
  <dcterms:created xsi:type="dcterms:W3CDTF">2013-01-27T09:14:16Z</dcterms:created>
  <dcterms:modified xsi:type="dcterms:W3CDTF">2024-04-09T20:23:15Z</dcterms:modified>
  <cp:category/>
</cp:coreProperties>
</file>